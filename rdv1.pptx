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</p:sldMasterIdLst>
  <p:notesMasterIdLst>
    <p:notesMasterId r:id="rId19"/>
  </p:notesMasterIdLst>
  <p:sldIdLst>
    <p:sldId id="256" r:id="rId6"/>
    <p:sldId id="257" r:id="rId7"/>
    <p:sldId id="266" r:id="rId8"/>
    <p:sldId id="258" r:id="rId9"/>
    <p:sldId id="259" r:id="rId10"/>
    <p:sldId id="260" r:id="rId11"/>
    <p:sldId id="261" r:id="rId12"/>
    <p:sldId id="262" r:id="rId13"/>
    <p:sldId id="263" r:id="rId14"/>
    <p:sldId id="267" r:id="rId15"/>
    <p:sldId id="268" r:id="rId16"/>
    <p:sldId id="26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1" d="100"/>
          <a:sy n="61" d="100"/>
        </p:scale>
        <p:origin x="107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sz="4400" b="0" strike="noStrike" spc="-1">
                <a:latin typeface="Arial"/>
              </a:rPr>
              <a:t>Cliquez pour déplacer la diapo</a:t>
            </a: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fr-FR" sz="2000" b="0" strike="noStrike" spc="-1">
                <a:latin typeface="Arial"/>
              </a:rPr>
              <a:t>Cliquez pour modifier le format des notes</a:t>
            </a:r>
          </a:p>
        </p:txBody>
      </p:sp>
      <p:sp>
        <p:nvSpPr>
          <p:cNvPr id="1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fr-FR" sz="1400" b="0" strike="noStrike" spc="-1">
                <a:latin typeface="Times New Roman"/>
              </a:rPr>
              <a:t> </a:t>
            </a:r>
          </a:p>
        </p:txBody>
      </p:sp>
      <p:sp>
        <p:nvSpPr>
          <p:cNvPr id="19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fr-FR" sz="1400" b="0" strike="noStrike" spc="-1">
                <a:latin typeface="Times New Roman"/>
              </a:rPr>
              <a:t> </a:t>
            </a:r>
          </a:p>
        </p:txBody>
      </p:sp>
      <p:sp>
        <p:nvSpPr>
          <p:cNvPr id="19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fr-FR" sz="1400" b="0" strike="noStrike" spc="-1">
                <a:latin typeface="Times New Roman"/>
              </a:rPr>
              <a:t> </a:t>
            </a:r>
          </a:p>
        </p:txBody>
      </p:sp>
      <p:sp>
        <p:nvSpPr>
          <p:cNvPr id="19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E05F064E-45CA-4C7B-BBB6-290FF5CB2D93}" type="slidenum">
              <a:rPr lang="fr-FR" sz="1400" b="0" strike="noStrike" spc="-1">
                <a:latin typeface="Times New Roman"/>
              </a:rPr>
              <a:t>‹#›</a:t>
            </a:fld>
            <a:endParaRPr lang="fr-F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640" algn="just">
              <a:lnSpc>
                <a:spcPct val="100000"/>
              </a:lnSpc>
            </a:pPr>
            <a:r>
              <a:rPr lang="fr-FR" sz="1200" b="1" i="1" strike="noStrike" spc="-1">
                <a:solidFill>
                  <a:srgbClr val="FF0000"/>
                </a:solidFill>
                <a:latin typeface="Arial"/>
              </a:rPr>
              <a:t>A ce titre, la MAP :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Garantit la fiabilité des informations relatives à la performance transmises au Parlement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Assure la cohérence des actions entreprises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Assure le respect des principes du contrôle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1" i="1" strike="noStrike" spc="-1">
                <a:solidFill>
                  <a:srgbClr val="FF0000"/>
                </a:solidFill>
                <a:latin typeface="Arial"/>
              </a:rPr>
              <a:t>Pour remplir ses missions, la mission d'aide au pilotage :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Anime le réseau ministériel de contrôleurs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Participe aux travaux ministériels et interministériels sur le contrôle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Participe aux travaux ministériels sur l'analyse des coûts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Est informée de toute décision relative au pilotage pour le contrôle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Pilote la mise en place d'un système d'information commun de pilotage de la performance (PITAGORE)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La mission est rattachée au secrétariat général pour l'administration. Elle est dirigée par un chef de mission.</a:t>
            </a:r>
            <a:endParaRPr lang="fr-FR" sz="1200" b="0" strike="noStrike" spc="-1">
              <a:latin typeface="Arial"/>
            </a:endParaRPr>
          </a:p>
          <a:p>
            <a:pPr marL="216000" indent="-215640">
              <a:lnSpc>
                <a:spcPct val="100000"/>
              </a:lnSpc>
            </a:pPr>
            <a:endParaRPr lang="fr-FR" sz="1200" b="0" strike="noStrike" spc="-1">
              <a:latin typeface="Arial"/>
            </a:endParaRPr>
          </a:p>
        </p:txBody>
      </p:sp>
      <p:sp>
        <p:nvSpPr>
          <p:cNvPr id="246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32C3AAB6-13BB-46AA-B224-8557DE11EF01}" type="slidenum">
              <a:rPr lang="fr-F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fr-F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640" algn="just">
              <a:lnSpc>
                <a:spcPct val="100000"/>
              </a:lnSpc>
            </a:pPr>
            <a:r>
              <a:rPr lang="fr-FR" sz="1200" b="1" i="1" strike="noStrike" spc="-1">
                <a:solidFill>
                  <a:srgbClr val="FF0000"/>
                </a:solidFill>
                <a:latin typeface="Arial"/>
              </a:rPr>
              <a:t>A ce titre, la MAP :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Garantit la fiabilité des informations relatives à la performance transmises au Parlement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Assure la cohérence des actions entreprises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Assure le respect des principes du contrôle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1" i="1" strike="noStrike" spc="-1">
                <a:solidFill>
                  <a:srgbClr val="FF0000"/>
                </a:solidFill>
                <a:latin typeface="Arial"/>
              </a:rPr>
              <a:t>Pour remplir ses missions, la mission d'aide au pilotage :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Anime le réseau ministériel de contrôleurs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Participe aux travaux ministériels et interministériels sur le contrôle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Participe aux travaux ministériels sur l'analyse des coûts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Est informée de toute décision relative au pilotage pour le contrôle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Pilote la mise en place d'un système d'information commun de pilotage de la performance (PITAGORE)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La mission est rattachée au secrétariat général pour l'administration. Elle est dirigée par un chef de mission.</a:t>
            </a:r>
            <a:endParaRPr lang="fr-FR" sz="1200" b="0" strike="noStrike" spc="-1">
              <a:latin typeface="Arial"/>
            </a:endParaRPr>
          </a:p>
          <a:p>
            <a:pPr marL="216000" indent="-215640">
              <a:lnSpc>
                <a:spcPct val="100000"/>
              </a:lnSpc>
            </a:pPr>
            <a:endParaRPr lang="fr-FR" sz="1200" b="0" strike="noStrike" spc="-1">
              <a:latin typeface="Arial"/>
            </a:endParaRPr>
          </a:p>
        </p:txBody>
      </p:sp>
      <p:sp>
        <p:nvSpPr>
          <p:cNvPr id="246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32C3AAB6-13BB-46AA-B224-8557DE11EF01}" type="slidenum">
              <a:rPr lang="fr-F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fr-FR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1400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640" algn="just">
              <a:lnSpc>
                <a:spcPct val="100000"/>
              </a:lnSpc>
            </a:pPr>
            <a:r>
              <a:rPr lang="fr-FR" sz="1200" b="1" i="1" strike="noStrike" spc="-1">
                <a:solidFill>
                  <a:srgbClr val="FF0000"/>
                </a:solidFill>
                <a:latin typeface="Arial"/>
              </a:rPr>
              <a:t>A ce titre, la MAP :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Garantit la fiabilité des informations relatives à la performance transmises au Parlement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Assure la cohérence des actions entreprises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Assure le respect des principes du contrôle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1" i="1" strike="noStrike" spc="-1">
                <a:solidFill>
                  <a:srgbClr val="FF0000"/>
                </a:solidFill>
                <a:latin typeface="Arial"/>
              </a:rPr>
              <a:t>Pour remplir ses missions, la mission d'aide au pilotage :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Anime le réseau ministériel de contrôleurs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Participe aux travaux ministériels et interministériels sur le contrôle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Participe aux travaux ministériels sur l'analyse des coûts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Est informée de toute décision relative au pilotage pour le contrôle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Pilote la mise en place d'un système d'information commun de pilotage de la performance (PITAGORE)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La mission est rattachée au secrétariat général pour l'administration. Elle est dirigée par un chef de mission.</a:t>
            </a:r>
            <a:endParaRPr lang="fr-FR" sz="1200" b="0" strike="noStrike" spc="-1">
              <a:latin typeface="Arial"/>
            </a:endParaRPr>
          </a:p>
          <a:p>
            <a:pPr marL="216000" indent="-215640">
              <a:lnSpc>
                <a:spcPct val="100000"/>
              </a:lnSpc>
            </a:pPr>
            <a:endParaRPr lang="fr-FR" sz="1200" b="0" strike="noStrike" spc="-1">
              <a:latin typeface="Arial"/>
            </a:endParaRPr>
          </a:p>
        </p:txBody>
      </p:sp>
      <p:sp>
        <p:nvSpPr>
          <p:cNvPr id="249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78A83621-3F10-4427-B0F7-F22B8C713ACD}" type="slidenum">
              <a:rPr lang="fr-F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fr-F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640" algn="just">
              <a:lnSpc>
                <a:spcPct val="100000"/>
              </a:lnSpc>
            </a:pPr>
            <a:r>
              <a:rPr lang="fr-FR" sz="1200" b="1" i="1" strike="noStrike" spc="-1">
                <a:solidFill>
                  <a:srgbClr val="FF0000"/>
                </a:solidFill>
                <a:latin typeface="Arial"/>
              </a:rPr>
              <a:t>A ce titre, la MAP :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Garantit la fiabilité des informations relatives à la performance transmises au Parlement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Assure la cohérence des actions entreprises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Assure le respect des principes du contrôle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1" i="1" strike="noStrike" spc="-1">
                <a:solidFill>
                  <a:srgbClr val="FF0000"/>
                </a:solidFill>
                <a:latin typeface="Arial"/>
              </a:rPr>
              <a:t>Pour remplir ses missions, la mission d'aide au pilotage :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Anime le réseau ministériel de contrôleurs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Participe aux travaux ministériels et interministériels sur le contrôle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Participe aux travaux ministériels sur l'analyse des coûts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Est informée de toute décision relative au pilotage pour le contrôle de gestion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 Pilote la mise en place d'un système d'information commun de pilotage de la performance (PITAGORE) </a:t>
            </a:r>
            <a:endParaRPr lang="fr-FR" sz="1200" b="0" strike="noStrike" spc="-1">
              <a:latin typeface="Arial"/>
            </a:endParaRPr>
          </a:p>
          <a:p>
            <a:pPr marL="216000" indent="-215640" algn="just">
              <a:lnSpc>
                <a:spcPct val="100000"/>
              </a:lnSpc>
            </a:pPr>
            <a:r>
              <a:rPr lang="fr-FR" sz="1200" b="0" i="1" strike="noStrike" spc="-1">
                <a:solidFill>
                  <a:srgbClr val="FF0000"/>
                </a:solidFill>
                <a:latin typeface="Arial"/>
              </a:rPr>
              <a:t>La mission est rattachée au secrétariat général pour l'administration. Elle est dirigée par un chef de mission.</a:t>
            </a:r>
            <a:endParaRPr lang="fr-FR" sz="1200" b="0" strike="noStrike" spc="-1">
              <a:latin typeface="Arial"/>
            </a:endParaRPr>
          </a:p>
          <a:p>
            <a:pPr marL="216000" indent="-215640">
              <a:lnSpc>
                <a:spcPct val="100000"/>
              </a:lnSpc>
            </a:pPr>
            <a:endParaRPr lang="fr-FR" sz="1200" b="0" strike="noStrike" spc="-1">
              <a:latin typeface="Arial"/>
            </a:endParaRPr>
          </a:p>
        </p:txBody>
      </p:sp>
      <p:sp>
        <p:nvSpPr>
          <p:cNvPr id="252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EFAE34BA-7724-4BA9-B21B-3384C8DEE335}" type="slidenum">
              <a:rPr lang="fr-F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fr-F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fr-FR" sz="2000" b="0" strike="noStrike" spc="-1">
              <a:latin typeface="Arial"/>
            </a:endParaRPr>
          </a:p>
        </p:txBody>
      </p:sp>
      <p:sp>
        <p:nvSpPr>
          <p:cNvPr id="255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6D3CFA8C-9BD5-411F-A518-C85D7267F888}" type="slidenum">
              <a:rPr lang="fr-F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fr-F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fr-FR" sz="2000" b="0" strike="noStrike" spc="-1">
              <a:latin typeface="Arial"/>
            </a:endParaRPr>
          </a:p>
        </p:txBody>
      </p:sp>
      <p:sp>
        <p:nvSpPr>
          <p:cNvPr id="258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B7D5EA32-07B4-4E67-A06E-77FC06DB7A7A}" type="slidenum">
              <a:rPr lang="fr-F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fr-F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fr-FR" sz="2000" b="0" strike="noStrike" spc="-1">
              <a:latin typeface="Arial"/>
            </a:endParaRPr>
          </a:p>
        </p:txBody>
      </p:sp>
      <p:sp>
        <p:nvSpPr>
          <p:cNvPr id="261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19353B6-E246-4E08-A894-1D879E94E678}" type="slidenum">
              <a:rPr lang="fr-F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fr-F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fr-FR" sz="2000" b="0" strike="noStrike" spc="-1">
              <a:latin typeface="Arial"/>
            </a:endParaRPr>
          </a:p>
        </p:txBody>
      </p:sp>
      <p:sp>
        <p:nvSpPr>
          <p:cNvPr id="264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3210BB8D-55A5-4565-A044-EA9DB7FF32BB}" type="slidenum">
              <a:rPr lang="fr-F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fr-F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fr-FR" sz="2000" b="0" strike="noStrike" spc="-1">
              <a:latin typeface="Arial"/>
            </a:endParaRPr>
          </a:p>
        </p:txBody>
      </p:sp>
      <p:sp>
        <p:nvSpPr>
          <p:cNvPr id="264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3210BB8D-55A5-4565-A044-EA9DB7FF32BB}" type="slidenum">
              <a:rPr lang="fr-F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10</a:t>
            </a:fld>
            <a:endParaRPr lang="fr-FR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1135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fr-FR" sz="2000" b="0" strike="noStrike" spc="-1">
              <a:latin typeface="Arial"/>
            </a:endParaRPr>
          </a:p>
        </p:txBody>
      </p:sp>
      <p:sp>
        <p:nvSpPr>
          <p:cNvPr id="264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3210BB8D-55A5-4565-A044-EA9DB7FF32BB}" type="slidenum">
              <a:rPr lang="fr-F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lang="fr-FR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2570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fr-FR" sz="2000" b="0" strike="noStrike" spc="-1">
              <a:latin typeface="Arial"/>
            </a:endParaRPr>
          </a:p>
        </p:txBody>
      </p:sp>
      <p:sp>
        <p:nvSpPr>
          <p:cNvPr id="267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4B814F-B479-4CAE-94F3-1BA3BECF9B51}" type="slidenum">
              <a:rPr lang="fr-F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lang="fr-F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1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8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9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9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sz="44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5"/>
          <p:cNvPicPr/>
          <p:nvPr/>
        </p:nvPicPr>
        <p:blipFill>
          <a:blip r:embed="rId14"/>
          <a:stretch/>
        </p:blipFill>
        <p:spPr>
          <a:xfrm>
            <a:off x="0" y="0"/>
            <a:ext cx="12191400" cy="802080"/>
          </a:xfrm>
          <a:prstGeom prst="rect">
            <a:avLst/>
          </a:prstGeom>
          <a:ln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sz="44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 6"/>
          <p:cNvPicPr/>
          <p:nvPr/>
        </p:nvPicPr>
        <p:blipFill>
          <a:blip r:embed="rId14"/>
          <a:stretch/>
        </p:blipFill>
        <p:spPr>
          <a:xfrm>
            <a:off x="0" y="0"/>
            <a:ext cx="12191400" cy="802080"/>
          </a:xfrm>
          <a:prstGeom prst="rect">
            <a:avLst/>
          </a:prstGeom>
          <a:ln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sz="44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age 7"/>
          <p:cNvPicPr/>
          <p:nvPr/>
        </p:nvPicPr>
        <p:blipFill>
          <a:blip r:embed="rId14"/>
          <a:stretch/>
        </p:blipFill>
        <p:spPr>
          <a:xfrm>
            <a:off x="0" y="0"/>
            <a:ext cx="12191400" cy="802080"/>
          </a:xfrm>
          <a:prstGeom prst="rect">
            <a:avLst/>
          </a:prstGeom>
          <a:ln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sz="44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Image 8"/>
          <p:cNvPicPr/>
          <p:nvPr/>
        </p:nvPicPr>
        <p:blipFill>
          <a:blip r:embed="rId14"/>
          <a:stretch/>
        </p:blipFill>
        <p:spPr>
          <a:xfrm>
            <a:off x="0" y="0"/>
            <a:ext cx="12191400" cy="802080"/>
          </a:xfrm>
          <a:prstGeom prst="rect">
            <a:avLst/>
          </a:prstGeom>
          <a:ln>
            <a:noFill/>
          </a:ln>
        </p:spPr>
      </p:pic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sz="44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01" name="Espace réservé du contenu 4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</p:pic>
      <p:sp>
        <p:nvSpPr>
          <p:cNvPr id="202" name="CustomShape 2"/>
          <p:cNvSpPr/>
          <p:nvPr/>
        </p:nvSpPr>
        <p:spPr>
          <a:xfrm>
            <a:off x="343080" y="2896560"/>
            <a:ext cx="3637800" cy="1308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lnSpc>
                <a:spcPts val="4000"/>
              </a:lnSpc>
            </a:pPr>
            <a:r>
              <a:rPr lang="fr-FR" sz="4000" b="1" strike="noStrike" spc="-100">
                <a:solidFill>
                  <a:srgbClr val="C55A11"/>
                </a:solidFill>
                <a:latin typeface="Arial Black"/>
                <a:ea typeface="DejaVu Sans"/>
              </a:rPr>
              <a:t>PROJET PTS</a:t>
            </a:r>
            <a:endParaRPr lang="fr-FR" sz="4000" b="0" strike="noStrike" spc="-1">
              <a:latin typeface="Arial"/>
            </a:endParaRPr>
          </a:p>
          <a:p>
            <a:pPr algn="just">
              <a:lnSpc>
                <a:spcPts val="1400"/>
              </a:lnSpc>
            </a:pPr>
            <a:endParaRPr lang="fr-FR" sz="4000" b="0" strike="noStrike" spc="-1">
              <a:latin typeface="Arial"/>
            </a:endParaRPr>
          </a:p>
          <a:p>
            <a:pPr algn="just">
              <a:lnSpc>
                <a:spcPts val="1400"/>
              </a:lnSpc>
            </a:pPr>
            <a:r>
              <a:rPr lang="fr-FR" sz="1800" b="0" strike="noStrike" spc="-1">
                <a:solidFill>
                  <a:srgbClr val="C55A11"/>
                </a:solidFill>
                <a:latin typeface="Calibri"/>
                <a:ea typeface="DejaVu Sans"/>
              </a:rPr>
              <a:t>PRÉDICTION DU SUCCES D’UNE</a:t>
            </a:r>
            <a:endParaRPr lang="fr-FR" sz="1800" b="0" strike="noStrike" spc="-1">
              <a:latin typeface="Arial"/>
            </a:endParaRPr>
          </a:p>
          <a:p>
            <a:pPr algn="just">
              <a:lnSpc>
                <a:spcPts val="1400"/>
              </a:lnSpc>
            </a:pPr>
            <a:endParaRPr lang="fr-FR" sz="1800" b="0" strike="noStrike" spc="-1">
              <a:latin typeface="Arial"/>
            </a:endParaRPr>
          </a:p>
          <a:p>
            <a:pPr algn="just">
              <a:lnSpc>
                <a:spcPts val="1400"/>
              </a:lnSpc>
            </a:pPr>
            <a:r>
              <a:rPr lang="fr-FR" sz="1800" b="0" strike="noStrike" spc="-1">
                <a:solidFill>
                  <a:srgbClr val="C55A11"/>
                </a:solidFill>
                <a:latin typeface="Calibri"/>
                <a:ea typeface="DejaVu Sans"/>
              </a:rPr>
              <a:t> MUSIQUE SUR SPOTIFY </a:t>
            </a:r>
            <a:r>
              <a:rPr lang="fr-FR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fr-FR" sz="3200" b="0" strike="noStrike" spc="-1">
              <a:latin typeface="Arial"/>
            </a:endParaRPr>
          </a:p>
        </p:txBody>
      </p:sp>
      <p:sp>
        <p:nvSpPr>
          <p:cNvPr id="203" name="CustomShape 3"/>
          <p:cNvSpPr/>
          <p:nvPr/>
        </p:nvSpPr>
        <p:spPr>
          <a:xfrm>
            <a:off x="7858080" y="600120"/>
            <a:ext cx="4453920" cy="121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REFLEXION AUTOUR DE LA  DONNEE</a:t>
            </a:r>
            <a:endParaRPr lang="fr-FR" sz="22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fr-FR" sz="1300" b="0" strike="noStrike" spc="-1">
                <a:solidFill>
                  <a:srgbClr val="FFFFFF"/>
                </a:solidFill>
                <a:latin typeface="Calibri"/>
                <a:ea typeface="DejaVu Sans"/>
              </a:rPr>
              <a:t>Choix et construction de notre dataset</a:t>
            </a:r>
            <a:endParaRPr lang="fr-FR" sz="13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fr-FR" sz="1300" b="0" strike="noStrike" spc="-1">
                <a:solidFill>
                  <a:srgbClr val="FFFFFF"/>
                </a:solidFill>
                <a:latin typeface="Calibri"/>
                <a:ea typeface="DejaVu Sans"/>
              </a:rPr>
              <a:t>Description des variables (dictionnaire de valeurs)</a:t>
            </a:r>
            <a:endParaRPr lang="fr-FR" sz="13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fr-FR" sz="1300" b="0" strike="noStrike" spc="-1">
                <a:solidFill>
                  <a:srgbClr val="FFFFFF"/>
                </a:solidFill>
                <a:latin typeface="Calibri"/>
                <a:ea typeface="DejaVu Sans"/>
              </a:rPr>
              <a:t>Definition du succes d’une musique </a:t>
            </a:r>
            <a:endParaRPr lang="fr-FR" sz="13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fr-FR" sz="1300" b="0" strike="noStrike" spc="-1">
                <a:solidFill>
                  <a:srgbClr val="FFFFFF"/>
                </a:solidFill>
                <a:latin typeface="Calibri"/>
                <a:ea typeface="DejaVu Sans"/>
              </a:rPr>
              <a:t>Regression VS Classification</a:t>
            </a:r>
            <a:endParaRPr lang="fr-FR" sz="1300" b="0" strike="noStrike" spc="-1">
              <a:latin typeface="Arial"/>
            </a:endParaRPr>
          </a:p>
        </p:txBody>
      </p:sp>
      <p:sp>
        <p:nvSpPr>
          <p:cNvPr id="204" name="CustomShape 4"/>
          <p:cNvSpPr/>
          <p:nvPr/>
        </p:nvSpPr>
        <p:spPr>
          <a:xfrm>
            <a:off x="7058160" y="1924200"/>
            <a:ext cx="3276000" cy="82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PREMIERES APPROCHES</a:t>
            </a:r>
            <a:r>
              <a:rPr lang="fr-FR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</a:t>
            </a:r>
            <a:endParaRPr lang="fr-FR" sz="20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fr-FR" sz="1300" b="0" strike="noStrike" spc="-1">
                <a:solidFill>
                  <a:srgbClr val="FFFFFF"/>
                </a:solidFill>
                <a:latin typeface="Calibri"/>
                <a:ea typeface="DejaVu Sans"/>
              </a:rPr>
              <a:t>Recherches bibliographiques et état de l’art </a:t>
            </a:r>
            <a:endParaRPr lang="fr-FR" sz="13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fr-FR" sz="1300" b="0" strike="noStrike" spc="-1">
                <a:solidFill>
                  <a:srgbClr val="FFFFFF"/>
                </a:solidFill>
                <a:latin typeface="Calibri"/>
                <a:ea typeface="DejaVu Sans"/>
              </a:rPr>
              <a:t>Data Visualisation</a:t>
            </a:r>
            <a:endParaRPr lang="fr-FR" sz="1300" b="0" strike="noStrike" spc="-1">
              <a:latin typeface="Arial"/>
            </a:endParaRPr>
          </a:p>
        </p:txBody>
      </p:sp>
      <p:sp>
        <p:nvSpPr>
          <p:cNvPr id="205" name="CustomShape 5"/>
          <p:cNvSpPr/>
          <p:nvPr/>
        </p:nvSpPr>
        <p:spPr>
          <a:xfrm>
            <a:off x="6315120" y="3275640"/>
            <a:ext cx="3276000" cy="1491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MODELES &amp; PREDICTIONS </a:t>
            </a:r>
            <a:endParaRPr lang="fr-FR" sz="22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fr-FR" sz="1300" b="0" strike="noStrike" spc="-1">
                <a:solidFill>
                  <a:srgbClr val="FFFFFF"/>
                </a:solidFill>
                <a:latin typeface="Calibri"/>
                <a:ea typeface="DejaVu Sans"/>
              </a:rPr>
              <a:t>Problemes transverses</a:t>
            </a:r>
            <a:endParaRPr lang="fr-FR" sz="13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fr-FR" sz="1300" b="0" strike="noStrike" spc="-1">
                <a:solidFill>
                  <a:srgbClr val="FFFFFF"/>
                </a:solidFill>
                <a:latin typeface="Calibri"/>
                <a:ea typeface="DejaVu Sans"/>
              </a:rPr>
              <a:t>Bayes / KNN</a:t>
            </a:r>
            <a:endParaRPr lang="fr-FR" sz="13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fr-FR" sz="1300" b="0" strike="noStrike" spc="-1">
                <a:solidFill>
                  <a:srgbClr val="FFFFFF"/>
                </a:solidFill>
                <a:latin typeface="Calibri"/>
                <a:ea typeface="DejaVu Sans"/>
              </a:rPr>
              <a:t>Decision Tree</a:t>
            </a:r>
            <a:endParaRPr lang="fr-FR" sz="13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fr-FR" sz="1300" b="0" strike="noStrike" spc="-1">
                <a:solidFill>
                  <a:srgbClr val="FFFFFF"/>
                </a:solidFill>
                <a:latin typeface="Calibri"/>
                <a:ea typeface="DejaVu Sans"/>
              </a:rPr>
              <a:t>Neural Network</a:t>
            </a:r>
            <a:endParaRPr lang="fr-FR" sz="13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fr-FR" sz="1300" b="0" strike="noStrike" spc="-1">
              <a:latin typeface="Arial"/>
            </a:endParaRPr>
          </a:p>
        </p:txBody>
      </p:sp>
      <p:sp>
        <p:nvSpPr>
          <p:cNvPr id="206" name="CustomShape 6"/>
          <p:cNvSpPr/>
          <p:nvPr/>
        </p:nvSpPr>
        <p:spPr>
          <a:xfrm>
            <a:off x="5579640" y="4824000"/>
            <a:ext cx="3276000" cy="927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NOTRE PRODUIT FINAL </a:t>
            </a:r>
            <a:endParaRPr lang="fr-FR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ET CONCLUSION</a:t>
            </a:r>
            <a:endParaRPr lang="fr-FR" sz="22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fr-FR" sz="1100" b="0" strike="noStrike" spc="-1">
                <a:solidFill>
                  <a:srgbClr val="FFFFFF"/>
                </a:solidFill>
                <a:latin typeface="Calibri"/>
                <a:ea typeface="DejaVu Sans"/>
              </a:rPr>
              <a:t>, </a:t>
            </a:r>
            <a:endParaRPr lang="fr-FR" sz="1100" b="0" strike="noStrike" spc="-1">
              <a:latin typeface="Arial"/>
            </a:endParaRPr>
          </a:p>
        </p:txBody>
      </p:sp>
      <p:sp>
        <p:nvSpPr>
          <p:cNvPr id="207" name="CustomShape 7"/>
          <p:cNvSpPr/>
          <p:nvPr/>
        </p:nvSpPr>
        <p:spPr>
          <a:xfrm>
            <a:off x="343080" y="1795680"/>
            <a:ext cx="2752560" cy="68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300" b="1" strike="noStrike" spc="-1">
                <a:solidFill>
                  <a:srgbClr val="000000"/>
                </a:solidFill>
                <a:latin typeface="Marianne"/>
                <a:ea typeface="DejaVu Sans"/>
              </a:rPr>
              <a:t>DIA : DATA &amp; INTELLIGENCE ARTIFIIELLE</a:t>
            </a:r>
            <a:endParaRPr lang="fr-FR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300" b="0" strike="noStrike" spc="-1">
              <a:latin typeface="Arial"/>
            </a:endParaRPr>
          </a:p>
        </p:txBody>
      </p:sp>
      <p:pic>
        <p:nvPicPr>
          <p:cNvPr id="208" name="Picture 207"/>
          <p:cNvPicPr/>
          <p:nvPr/>
        </p:nvPicPr>
        <p:blipFill>
          <a:blip r:embed="rId3"/>
          <a:stretch/>
        </p:blipFill>
        <p:spPr>
          <a:xfrm>
            <a:off x="428760" y="72000"/>
            <a:ext cx="1586880" cy="1586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1"/>
          <p:cNvSpPr/>
          <p:nvPr/>
        </p:nvSpPr>
        <p:spPr>
          <a:xfrm>
            <a:off x="838080" y="64800"/>
            <a:ext cx="10514880" cy="67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fr-FR" sz="4000" b="1" strike="noStrike" spc="-1">
                <a:solidFill>
                  <a:srgbClr val="FFFFFF"/>
                </a:solidFill>
                <a:latin typeface="Calibri"/>
              </a:rPr>
              <a:t>01 – REFLEXIONS AUTOUR DE LA DONNEE</a:t>
            </a:r>
            <a:endParaRPr lang="fr-FR" sz="4000" b="0" strike="noStrike" spc="-1">
              <a:latin typeface="Arial"/>
            </a:endParaRPr>
          </a:p>
        </p:txBody>
      </p:sp>
      <p:sp>
        <p:nvSpPr>
          <p:cNvPr id="210" name="CustomShape 2"/>
          <p:cNvSpPr/>
          <p:nvPr/>
        </p:nvSpPr>
        <p:spPr>
          <a:xfrm>
            <a:off x="1872000" y="1872000"/>
            <a:ext cx="5759640" cy="255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Kaggle</a:t>
            </a:r>
          </a:p>
          <a:p>
            <a:pPr>
              <a:lnSpc>
                <a:spcPct val="100000"/>
              </a:lnSpc>
            </a:pPr>
            <a:endParaRPr lang="fr-F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Top 100 Hit Songs</a:t>
            </a:r>
          </a:p>
          <a:p>
            <a:pPr>
              <a:lnSpc>
                <a:spcPct val="100000"/>
              </a:lnSpc>
            </a:pPr>
            <a:endParaRPr lang="fr-F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Spotify API</a:t>
            </a:r>
          </a:p>
          <a:p>
            <a:pPr>
              <a:lnSpc>
                <a:spcPct val="100000"/>
              </a:lnSpc>
            </a:pPr>
            <a:endParaRPr lang="fr-F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Autres ?</a:t>
            </a:r>
          </a:p>
          <a:p>
            <a:pPr>
              <a:lnSpc>
                <a:spcPct val="100000"/>
              </a:lnSpc>
            </a:pPr>
            <a:endParaRPr lang="fr-F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SACEM</a:t>
            </a:r>
          </a:p>
        </p:txBody>
      </p:sp>
      <p:sp>
        <p:nvSpPr>
          <p:cNvPr id="211" name="CustomShape 3"/>
          <p:cNvSpPr/>
          <p:nvPr/>
        </p:nvSpPr>
        <p:spPr>
          <a:xfrm>
            <a:off x="2232000" y="1368000"/>
            <a:ext cx="575964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Quel dataset choisir ?</a:t>
            </a:r>
          </a:p>
          <a:p>
            <a:pPr>
              <a:lnSpc>
                <a:spcPct val="100000"/>
              </a:lnSpc>
            </a:pPr>
            <a:endParaRPr lang="fr-FR" sz="1800" b="0" strike="noStrike" spc="-1">
              <a:latin typeface="Arial"/>
            </a:endParaRPr>
          </a:p>
        </p:txBody>
      </p:sp>
      <p:pic>
        <p:nvPicPr>
          <p:cNvPr id="212" name="Picture 211"/>
          <p:cNvPicPr/>
          <p:nvPr/>
        </p:nvPicPr>
        <p:blipFill>
          <a:blip r:embed="rId3"/>
          <a:stretch/>
        </p:blipFill>
        <p:spPr>
          <a:xfrm>
            <a:off x="5688000" y="1368000"/>
            <a:ext cx="2376000" cy="2376000"/>
          </a:xfrm>
          <a:prstGeom prst="rect">
            <a:avLst/>
          </a:prstGeom>
          <a:ln>
            <a:noFill/>
          </a:ln>
        </p:spPr>
      </p:pic>
      <p:pic>
        <p:nvPicPr>
          <p:cNvPr id="213" name="Picture 212"/>
          <p:cNvPicPr/>
          <p:nvPr/>
        </p:nvPicPr>
        <p:blipFill>
          <a:blip r:embed="rId4"/>
          <a:srcRect l="5532" t="25961" r="2967" b="26276"/>
          <a:stretch/>
        </p:blipFill>
        <p:spPr>
          <a:xfrm>
            <a:off x="5256000" y="4464000"/>
            <a:ext cx="5255640" cy="1439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1"/>
          <p:cNvSpPr/>
          <p:nvPr/>
        </p:nvSpPr>
        <p:spPr>
          <a:xfrm>
            <a:off x="838080" y="64800"/>
            <a:ext cx="10514880" cy="67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fr-FR" sz="4000" b="1" strike="noStrike" spc="-1">
                <a:solidFill>
                  <a:srgbClr val="FFFFFF"/>
                </a:solidFill>
                <a:latin typeface="Calibri"/>
              </a:rPr>
              <a:t>01 – REFLEXIONS AUTOUR DE LA DONNEE</a:t>
            </a:r>
            <a:endParaRPr lang="fr-FR" sz="4000" b="0" strike="noStrike" spc="-1">
              <a:latin typeface="Arial"/>
            </a:endParaRPr>
          </a:p>
        </p:txBody>
      </p:sp>
      <p:sp>
        <p:nvSpPr>
          <p:cNvPr id="211" name="CustomShape 3"/>
          <p:cNvSpPr/>
          <p:nvPr/>
        </p:nvSpPr>
        <p:spPr>
          <a:xfrm>
            <a:off x="838080" y="1254985"/>
            <a:ext cx="8552500" cy="34148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0" strike="noStrike" spc="-1" dirty="0">
                <a:latin typeface="Arial"/>
              </a:rPr>
              <a:t>Travaux et réflexions existants :</a:t>
            </a: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800" b="0" strike="noStrike" spc="-1" dirty="0">
                <a:latin typeface="Arial"/>
              </a:rPr>
              <a:t>Choix du </a:t>
            </a:r>
            <a:r>
              <a:rPr lang="fr-FR" spc="-1" dirty="0" err="1">
                <a:latin typeface="Arial"/>
              </a:rPr>
              <a:t>dataset</a:t>
            </a:r>
            <a:r>
              <a:rPr lang="fr-FR" spc="-1" dirty="0">
                <a:latin typeface="Arial"/>
              </a:rPr>
              <a:t> et choix de la définition du succès.</a:t>
            </a:r>
          </a:p>
          <a:p>
            <a:pPr>
              <a:lnSpc>
                <a:spcPct val="100000"/>
              </a:lnSpc>
            </a:pPr>
            <a:r>
              <a:rPr lang="fr-FR" spc="-1" dirty="0">
                <a:latin typeface="Arial"/>
              </a:rPr>
              <a:t>	Plusieurs sources possibles pour récupérer des données pertinentes</a:t>
            </a:r>
          </a:p>
          <a:p>
            <a:pPr>
              <a:lnSpc>
                <a:spcPct val="100000"/>
              </a:lnSpc>
            </a:pPr>
            <a:r>
              <a:rPr lang="fr-FR" spc="-1" dirty="0">
                <a:latin typeface="Arial"/>
              </a:rPr>
              <a:t>	Plusieurs définitions possibles pour le succès :</a:t>
            </a:r>
          </a:p>
          <a:p>
            <a:pPr>
              <a:lnSpc>
                <a:spcPct val="100000"/>
              </a:lnSpc>
            </a:pPr>
            <a:r>
              <a:rPr lang="fr-FR" spc="-1" dirty="0">
                <a:latin typeface="Arial"/>
              </a:rPr>
              <a:t>		prédire une valeur (valeur entre 0&amp;100 : appeler </a:t>
            </a:r>
            <a:r>
              <a:rPr lang="fr-FR" i="1" spc="-1" dirty="0" err="1">
                <a:latin typeface="Arial"/>
              </a:rPr>
              <a:t>hotness</a:t>
            </a:r>
            <a:r>
              <a:rPr lang="fr-FR" i="1" spc="-1" dirty="0">
                <a:latin typeface="Arial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fr-FR" i="1" spc="-1" dirty="0">
                <a:latin typeface="Arial"/>
              </a:rPr>
              <a:t>		</a:t>
            </a:r>
            <a:r>
              <a:rPr lang="fr-FR" spc="-1" dirty="0">
                <a:latin typeface="Arial"/>
              </a:rPr>
              <a:t>prédire si elle appartiendra à un top 100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800" b="0" strike="noStrike" spc="-1" dirty="0">
                <a:latin typeface="Arial"/>
              </a:rPr>
              <a:t>Différentes méthodes pour prédire le succès. </a:t>
            </a: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 dirty="0">
                <a:latin typeface="Arial"/>
              </a:rPr>
              <a:t> </a:t>
            </a:r>
          </a:p>
          <a:p>
            <a:pPr>
              <a:lnSpc>
                <a:spcPct val="100000"/>
              </a:lnSpc>
            </a:pPr>
            <a:endParaRPr lang="fr-F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453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838080" y="64800"/>
            <a:ext cx="10514880" cy="67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fr-FR" sz="4000" b="1" strike="noStrike" spc="-1">
                <a:solidFill>
                  <a:srgbClr val="FFFFFF"/>
                </a:solidFill>
                <a:latin typeface="Calibri"/>
              </a:rPr>
              <a:t>01 – REFLEXIONS AUTOUR DE LA DONNEE</a:t>
            </a:r>
            <a:endParaRPr lang="fr-FR" sz="4000" b="0" strike="noStrike" spc="-1">
              <a:latin typeface="Arial"/>
            </a:endParaRPr>
          </a:p>
        </p:txBody>
      </p:sp>
      <p:sp>
        <p:nvSpPr>
          <p:cNvPr id="215" name="TextShape 2"/>
          <p:cNvSpPr txBox="1"/>
          <p:nvPr/>
        </p:nvSpPr>
        <p:spPr>
          <a:xfrm>
            <a:off x="1759639" y="1013456"/>
            <a:ext cx="8671761" cy="5784745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pc="-1" dirty="0" err="1">
                <a:latin typeface="Arial"/>
              </a:rPr>
              <a:t>Duration_ms</a:t>
            </a:r>
            <a:r>
              <a:rPr lang="fr-FR" spc="-1" dirty="0">
                <a:latin typeface="Arial"/>
              </a:rPr>
              <a:t> : la durée de la piste en </a:t>
            </a:r>
            <a:r>
              <a:rPr lang="fr-FR" spc="-1" dirty="0" err="1">
                <a:latin typeface="Arial"/>
              </a:rPr>
              <a:t>milliseconds</a:t>
            </a:r>
            <a:r>
              <a:rPr lang="fr-FR" spc="-1" dirty="0">
                <a:latin typeface="Arial"/>
              </a:rPr>
              <a:t> </a:t>
            </a:r>
            <a:r>
              <a:rPr lang="fr-FR" spc="-1" dirty="0" err="1">
                <a:latin typeface="Arial"/>
              </a:rPr>
              <a:t>Acousticness</a:t>
            </a:r>
            <a:r>
              <a:rPr lang="fr-FR" spc="-1" dirty="0">
                <a:latin typeface="Arial"/>
              </a:rPr>
              <a:t> : 1 assure que la piste est entièrement acoustique. (Compris entre 0 &amp; 1/</a:t>
            </a:r>
            <a:r>
              <a:rPr lang="fr-FR" spc="-1" dirty="0" err="1">
                <a:latin typeface="Arial"/>
              </a:rPr>
              <a:t>float</a:t>
            </a:r>
            <a:r>
              <a:rPr lang="fr-FR" spc="-1" dirty="0">
                <a:latin typeface="Arial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pc="-1" dirty="0" err="1">
                <a:latin typeface="Arial"/>
              </a:rPr>
              <a:t>Danceability</a:t>
            </a:r>
            <a:r>
              <a:rPr lang="fr-FR" spc="-1" dirty="0">
                <a:latin typeface="Arial"/>
              </a:rPr>
              <a:t> : Décrit si la piste est appropriée pour danser ou non. (Compris entre 0 &amp; 1: </a:t>
            </a:r>
            <a:r>
              <a:rPr lang="fr-FR" spc="-1" dirty="0" err="1">
                <a:latin typeface="Arial"/>
              </a:rPr>
              <a:t>float</a:t>
            </a:r>
            <a:r>
              <a:rPr lang="fr-FR" spc="-1" dirty="0">
                <a:latin typeface="Arial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pc="-1" dirty="0">
                <a:latin typeface="Arial"/>
              </a:rPr>
              <a:t>Energy : Décrit une mesure d’intensité et d’activité. (Compris entre 0 &amp; 1/</a:t>
            </a:r>
            <a:r>
              <a:rPr lang="fr-FR" spc="-1" dirty="0" err="1">
                <a:latin typeface="Arial"/>
              </a:rPr>
              <a:t>float</a:t>
            </a:r>
            <a:r>
              <a:rPr lang="fr-FR" spc="-1" dirty="0">
                <a:latin typeface="Arial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pc="-1" dirty="0" err="1">
                <a:latin typeface="Arial"/>
              </a:rPr>
              <a:t>Instrumentalness</a:t>
            </a:r>
            <a:r>
              <a:rPr lang="fr-FR" spc="-1" dirty="0">
                <a:latin typeface="Arial"/>
              </a:rPr>
              <a:t> : Prédit si la piste contient aucune vocale. (Compris entre 0 &amp; 1/</a:t>
            </a:r>
            <a:r>
              <a:rPr lang="fr-FR" spc="-1" dirty="0" err="1">
                <a:latin typeface="Arial"/>
              </a:rPr>
              <a:t>float</a:t>
            </a:r>
            <a:r>
              <a:rPr lang="fr-FR" spc="-1" dirty="0">
                <a:latin typeface="Arial"/>
              </a:rPr>
              <a:t>, plus cette valeur est proche de 1 : plus la probabilité qu’il n’y est aucune vocale est grande) </a:t>
            </a:r>
            <a:r>
              <a:rPr lang="fr-FR" i="1" spc="-1" dirty="0">
                <a:latin typeface="Arial"/>
              </a:rPr>
              <a:t>f</a:t>
            </a:r>
            <a:endParaRPr lang="fr-FR" spc="-1" dirty="0"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pc="-1" dirty="0" err="1">
                <a:latin typeface="Arial"/>
              </a:rPr>
              <a:t>Liveness</a:t>
            </a:r>
            <a:r>
              <a:rPr lang="fr-FR" spc="-1" dirty="0">
                <a:latin typeface="Arial"/>
              </a:rPr>
              <a:t> : Détecte la présence d’une audience (Compris entre 0&amp;1/</a:t>
            </a:r>
            <a:r>
              <a:rPr lang="fr-FR" spc="-1" dirty="0" err="1">
                <a:latin typeface="Arial"/>
              </a:rPr>
              <a:t>float</a:t>
            </a:r>
            <a:r>
              <a:rPr lang="fr-FR" spc="-1" dirty="0">
                <a:latin typeface="Arial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pc="-1" dirty="0" err="1">
                <a:latin typeface="Arial"/>
              </a:rPr>
              <a:t>Loudness</a:t>
            </a:r>
            <a:r>
              <a:rPr lang="fr-FR" spc="-1" dirty="0">
                <a:latin typeface="Arial"/>
              </a:rPr>
              <a:t> : La valeur moyenne de </a:t>
            </a:r>
            <a:r>
              <a:rPr lang="fr-FR" spc="-1" dirty="0" err="1">
                <a:latin typeface="Arial"/>
              </a:rPr>
              <a:t>Loudness</a:t>
            </a:r>
            <a:r>
              <a:rPr lang="fr-FR" spc="-1" dirty="0">
                <a:latin typeface="Arial"/>
              </a:rPr>
              <a:t> en dB (Compris entre -60dB &amp; 0dB)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pc="-1" dirty="0" err="1">
                <a:latin typeface="Arial"/>
              </a:rPr>
              <a:t>Speechiness</a:t>
            </a:r>
            <a:r>
              <a:rPr lang="fr-FR" spc="-1" dirty="0">
                <a:latin typeface="Arial"/>
              </a:rPr>
              <a:t> : Détecte la présence de mots parlés (compris entre 0&amp;1, une valeur entre 0.33 &amp; 0.66 implique souvent un mix de parole et musique par ex)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pc="-1" dirty="0">
                <a:latin typeface="Arial"/>
              </a:rPr>
              <a:t>Valence : Décrit la positivité musicale transmise par la chanson (Compris entre 0 &amp; 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pc="-1" dirty="0">
                <a:latin typeface="Arial"/>
              </a:rPr>
              <a:t>Tempo : le tempo générale en bpm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pc="-1" dirty="0">
                <a:latin typeface="Arial"/>
              </a:rPr>
              <a:t>Artists : liste des artistes de la chanson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pc="-1" dirty="0">
                <a:latin typeface="Arial"/>
              </a:rPr>
              <a:t>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pc="-1" dirty="0">
              <a:latin typeface="Arial"/>
            </a:endParaRPr>
          </a:p>
          <a:p>
            <a:pPr lvl="1"/>
            <a:r>
              <a:rPr lang="fr-FR" sz="2800" b="1" spc="-1" dirty="0">
                <a:latin typeface="Arial"/>
              </a:rPr>
              <a:t>			10 Variables  </a:t>
            </a:r>
          </a:p>
          <a:p>
            <a:r>
              <a:rPr lang="fr-FR" spc="-1" dirty="0">
                <a:latin typeface="Arial"/>
              </a:rPr>
              <a:t> </a:t>
            </a:r>
            <a:endParaRPr lang="fr-FR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838080" y="64800"/>
            <a:ext cx="10514880" cy="67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fr-FR" sz="4000" b="1" strike="noStrike" spc="-1">
                <a:solidFill>
                  <a:srgbClr val="FFFFFF"/>
                </a:solidFill>
                <a:latin typeface="Calibri"/>
              </a:rPr>
              <a:t>01 – REFLEXIONS AUTOUR DE LA DONNEE</a:t>
            </a:r>
            <a:endParaRPr lang="fr-FR" sz="4000" b="0" strike="noStrike" spc="-1">
              <a:latin typeface="Arial"/>
            </a:endParaRPr>
          </a:p>
        </p:txBody>
      </p:sp>
      <p:sp>
        <p:nvSpPr>
          <p:cNvPr id="217" name="CustomShape 2"/>
          <p:cNvSpPr/>
          <p:nvPr/>
        </p:nvSpPr>
        <p:spPr>
          <a:xfrm>
            <a:off x="2160000" y="1836000"/>
            <a:ext cx="388764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Prédiction de la note Spotify</a:t>
            </a: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de Popularité</a:t>
            </a:r>
          </a:p>
        </p:txBody>
      </p:sp>
      <p:sp>
        <p:nvSpPr>
          <p:cNvPr id="218" name="CustomShape 3"/>
          <p:cNvSpPr/>
          <p:nvPr/>
        </p:nvSpPr>
        <p:spPr>
          <a:xfrm>
            <a:off x="6912000" y="1733760"/>
            <a:ext cx="3887640" cy="91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Prédiction de la note de Popularité</a:t>
            </a:r>
          </a:p>
          <a:p>
            <a:pPr>
              <a:lnSpc>
                <a:spcPct val="100000"/>
              </a:lnSpc>
            </a:pPr>
            <a:endParaRPr lang="fr-F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Top 100 Hit Songs</a:t>
            </a:r>
          </a:p>
        </p:txBody>
      </p:sp>
      <p:sp>
        <p:nvSpPr>
          <p:cNvPr id="219" name="CustomShape 4"/>
          <p:cNvSpPr/>
          <p:nvPr/>
        </p:nvSpPr>
        <p:spPr>
          <a:xfrm>
            <a:off x="216000" y="3914280"/>
            <a:ext cx="1727640" cy="575640"/>
          </a:xfrm>
          <a:prstGeom prst="rect">
            <a:avLst/>
          </a:prstGeom>
          <a:solidFill>
            <a:srgbClr val="F03925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20" name="Picture 219"/>
          <p:cNvPicPr/>
          <p:nvPr/>
        </p:nvPicPr>
        <p:blipFill>
          <a:blip r:embed="rId3"/>
          <a:stretch/>
        </p:blipFill>
        <p:spPr>
          <a:xfrm>
            <a:off x="1944000" y="2592000"/>
            <a:ext cx="8855640" cy="4195440"/>
          </a:xfrm>
          <a:prstGeom prst="rect">
            <a:avLst/>
          </a:prstGeom>
          <a:ln>
            <a:noFill/>
          </a:ln>
        </p:spPr>
      </p:pic>
      <p:sp>
        <p:nvSpPr>
          <p:cNvPr id="221" name="CustomShape 5"/>
          <p:cNvSpPr/>
          <p:nvPr/>
        </p:nvSpPr>
        <p:spPr>
          <a:xfrm>
            <a:off x="216000" y="1872000"/>
            <a:ext cx="1727640" cy="575640"/>
          </a:xfrm>
          <a:prstGeom prst="rect">
            <a:avLst/>
          </a:prstGeom>
          <a:solidFill>
            <a:srgbClr val="F03925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2" name="CustomShape 6"/>
          <p:cNvSpPr/>
          <p:nvPr/>
        </p:nvSpPr>
        <p:spPr>
          <a:xfrm>
            <a:off x="360000" y="1966320"/>
            <a:ext cx="158364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1" strike="noStrike" spc="-1">
                <a:solidFill>
                  <a:srgbClr val="FFFFFF"/>
                </a:solidFill>
                <a:latin typeface="Arial"/>
              </a:rPr>
              <a:t>Variables :</a:t>
            </a:r>
            <a:endParaRPr lang="fr-FR" sz="2000" b="0" strike="noStrike" spc="-1">
              <a:latin typeface="Arial"/>
            </a:endParaRPr>
          </a:p>
        </p:txBody>
      </p:sp>
      <p:sp>
        <p:nvSpPr>
          <p:cNvPr id="223" name="CustomShape 7"/>
          <p:cNvSpPr/>
          <p:nvPr/>
        </p:nvSpPr>
        <p:spPr>
          <a:xfrm>
            <a:off x="288000" y="3888000"/>
            <a:ext cx="158364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strike="noStrike" spc="-1">
                <a:solidFill>
                  <a:srgbClr val="FFFFFF"/>
                </a:solidFill>
                <a:latin typeface="Arial"/>
              </a:rPr>
              <a:t>Type de problème :</a:t>
            </a:r>
            <a:endParaRPr lang="fr-FR" sz="1800" b="0" strike="noStrike" spc="-1">
              <a:latin typeface="Arial"/>
            </a:endParaRPr>
          </a:p>
        </p:txBody>
      </p:sp>
      <p:sp>
        <p:nvSpPr>
          <p:cNvPr id="224" name="CustomShape 8"/>
          <p:cNvSpPr/>
          <p:nvPr/>
        </p:nvSpPr>
        <p:spPr>
          <a:xfrm>
            <a:off x="2808000" y="1080000"/>
            <a:ext cx="626364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endParaRPr lang="fr-F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ustomShape 1"/>
          <p:cNvSpPr/>
          <p:nvPr/>
        </p:nvSpPr>
        <p:spPr>
          <a:xfrm>
            <a:off x="838080" y="64800"/>
            <a:ext cx="10514880" cy="67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fr-FR" sz="4000" b="1" strike="noStrike" spc="-1">
                <a:solidFill>
                  <a:srgbClr val="FFFFFF"/>
                </a:solidFill>
                <a:latin typeface="Calibri"/>
              </a:rPr>
              <a:t>02 – PREMIERES APPROCHES</a:t>
            </a:r>
            <a:endParaRPr lang="fr-FR" sz="4000" b="0" strike="noStrike" spc="-1">
              <a:latin typeface="Arial"/>
            </a:endParaRPr>
          </a:p>
        </p:txBody>
      </p:sp>
      <p:sp>
        <p:nvSpPr>
          <p:cNvPr id="226" name="CustomShape 2"/>
          <p:cNvSpPr/>
          <p:nvPr/>
        </p:nvSpPr>
        <p:spPr>
          <a:xfrm rot="16200000">
            <a:off x="-598320" y="2445480"/>
            <a:ext cx="2528280" cy="585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7" name="CustomShape 3"/>
          <p:cNvSpPr/>
          <p:nvPr/>
        </p:nvSpPr>
        <p:spPr>
          <a:xfrm>
            <a:off x="1800000" y="1728000"/>
            <a:ext cx="7271640" cy="146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Soit un lien vers le notebook</a:t>
            </a:r>
          </a:p>
          <a:p>
            <a:pPr>
              <a:lnSpc>
                <a:spcPct val="100000"/>
              </a:lnSpc>
            </a:pPr>
            <a:endParaRPr lang="fr-F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Ou</a:t>
            </a:r>
          </a:p>
          <a:p>
            <a:pPr>
              <a:lnSpc>
                <a:spcPct val="100000"/>
              </a:lnSpc>
            </a:pPr>
            <a:endParaRPr lang="fr-F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Soit les vizs principales sous forme d’image directement sur le PPT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838080" y="64800"/>
            <a:ext cx="10514880" cy="67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fr-FR" sz="4000" b="1" strike="noStrike" spc="-1">
                <a:solidFill>
                  <a:srgbClr val="FFFFFF"/>
                </a:solidFill>
                <a:latin typeface="Calibri"/>
              </a:rPr>
              <a:t>03 – MODELES &amp; PREDICTIONS</a:t>
            </a:r>
            <a:endParaRPr lang="fr-FR" sz="4000" b="0" strike="noStrike" spc="-1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2088000" y="1656000"/>
            <a:ext cx="73436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Problemes transverses :</a:t>
            </a:r>
          </a:p>
        </p:txBody>
      </p:sp>
      <p:sp>
        <p:nvSpPr>
          <p:cNvPr id="230" name="TextShape 3"/>
          <p:cNvSpPr txBox="1"/>
          <p:nvPr/>
        </p:nvSpPr>
        <p:spPr>
          <a:xfrm>
            <a:off x="3455999" y="3029400"/>
            <a:ext cx="5513339" cy="921876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>
            <a:spAutoFit/>
          </a:bodyPr>
          <a:lstStyle/>
          <a:p>
            <a:r>
              <a:rPr lang="fr-FR" sz="1800" b="0" strike="noStrike" spc="-1" dirty="0" err="1">
                <a:latin typeface="Arial"/>
              </a:rPr>
              <a:t>oversampling</a:t>
            </a:r>
            <a:endParaRPr lang="fr-FR" sz="1800" b="0" strike="noStrike" spc="-1" dirty="0">
              <a:latin typeface="Arial"/>
            </a:endParaRPr>
          </a:p>
          <a:p>
            <a:r>
              <a:rPr lang="fr-FR" sz="1800" b="0" strike="noStrike" spc="-1" dirty="0" err="1">
                <a:latin typeface="Arial"/>
              </a:rPr>
              <a:t>onehotencoding</a:t>
            </a:r>
            <a:r>
              <a:rPr lang="fr-FR" sz="1800" b="0" strike="noStrike" spc="-1" dirty="0">
                <a:latin typeface="Arial"/>
              </a:rPr>
              <a:t> </a:t>
            </a:r>
            <a:r>
              <a:rPr lang="fr-FR" sz="1800" b="0" strike="noStrike" spc="-1" dirty="0" err="1">
                <a:latin typeface="Arial"/>
              </a:rPr>
              <a:t>artists</a:t>
            </a:r>
            <a:r>
              <a:rPr lang="fr-FR" sz="1800" b="0" strike="noStrike" spc="-1" dirty="0">
                <a:latin typeface="Arial"/>
              </a:rPr>
              <a:t>/gestion de la variable artiste</a:t>
            </a:r>
          </a:p>
          <a:p>
            <a:r>
              <a:rPr lang="fr-FR" sz="1800" b="0" strike="noStrike" spc="-1" dirty="0">
                <a:latin typeface="Arial"/>
              </a:rPr>
              <a:t>inverse de </a:t>
            </a:r>
            <a:r>
              <a:rPr lang="fr-FR" sz="1800" b="0" strike="noStrike" spc="-1" dirty="0" err="1">
                <a:latin typeface="Arial"/>
              </a:rPr>
              <a:t>oversampling</a:t>
            </a:r>
            <a:endParaRPr lang="fr-FR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838080" y="64800"/>
            <a:ext cx="10514880" cy="67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fr-FR" sz="4000" b="1" strike="noStrike" spc="-1">
                <a:solidFill>
                  <a:srgbClr val="FFFFFF"/>
                </a:solidFill>
                <a:latin typeface="Calibri"/>
              </a:rPr>
              <a:t>03 – MODELES &amp; PREDICTIONS</a:t>
            </a:r>
            <a:endParaRPr lang="fr-FR" sz="4000" b="0" strike="noStrike" spc="-1">
              <a:latin typeface="Arial"/>
            </a:endParaRPr>
          </a:p>
        </p:txBody>
      </p:sp>
      <p:sp>
        <p:nvSpPr>
          <p:cNvPr id="232" name="CustomShape 2"/>
          <p:cNvSpPr/>
          <p:nvPr/>
        </p:nvSpPr>
        <p:spPr>
          <a:xfrm>
            <a:off x="2088000" y="1656000"/>
            <a:ext cx="73436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Naive Bayes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838080" y="64800"/>
            <a:ext cx="10514880" cy="67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fr-FR" sz="4000" b="1" strike="noStrike" spc="-1">
                <a:solidFill>
                  <a:srgbClr val="FFFFFF"/>
                </a:solidFill>
                <a:latin typeface="Calibri"/>
              </a:rPr>
              <a:t>03 – MODELES &amp; PREDICTIONS</a:t>
            </a:r>
            <a:endParaRPr lang="fr-FR" sz="4000" b="0" strike="noStrike" spc="-1">
              <a:latin typeface="Arial"/>
            </a:endParaRPr>
          </a:p>
        </p:txBody>
      </p:sp>
      <p:sp>
        <p:nvSpPr>
          <p:cNvPr id="234" name="CustomShape 2"/>
          <p:cNvSpPr/>
          <p:nvPr/>
        </p:nvSpPr>
        <p:spPr>
          <a:xfrm>
            <a:off x="2088000" y="1656000"/>
            <a:ext cx="7343640" cy="39688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0" strike="noStrike" spc="-1" dirty="0">
                <a:latin typeface="Arial"/>
              </a:rPr>
              <a:t>Naive Bayes:</a:t>
            </a:r>
          </a:p>
          <a:p>
            <a:pPr>
              <a:lnSpc>
                <a:spcPct val="100000"/>
              </a:lnSpc>
            </a:pPr>
            <a:r>
              <a:rPr lang="fr-FR" spc="-1" dirty="0">
                <a:latin typeface="Arial"/>
              </a:rPr>
              <a:t>Se basent sur la supposition que les variables sont indépendantes, c’est une approche supervisée. </a:t>
            </a: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pc="-1" dirty="0">
                <a:latin typeface="Arial"/>
              </a:rPr>
              <a:t>3 étapes :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pc="-1" dirty="0">
                <a:latin typeface="Arial"/>
              </a:rPr>
              <a:t>Convertir les données en une table de fréquence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pc="-1" dirty="0">
                <a:latin typeface="Arial"/>
              </a:rPr>
              <a:t>Calculer les probabilités conjointes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pc="-1" dirty="0">
                <a:latin typeface="Arial"/>
              </a:rPr>
              <a:t>Utiliser l’équation naïve de Bayes pour calculer la probabilité posteriori pour chaque classe. </a:t>
            </a:r>
          </a:p>
          <a:p>
            <a:pPr>
              <a:lnSpc>
                <a:spcPct val="100000"/>
              </a:lnSpc>
            </a:pPr>
            <a:r>
              <a:rPr lang="fr-FR" spc="-1" dirty="0">
                <a:latin typeface="Arial"/>
              </a:rPr>
              <a:t>La classe avec la plus grande probabilité est la classe prédite.</a:t>
            </a: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pc="-1" dirty="0">
                <a:latin typeface="Arial"/>
              </a:rPr>
              <a:t>Module </a:t>
            </a:r>
            <a:r>
              <a:rPr lang="fr-FR" spc="-1" dirty="0" err="1">
                <a:latin typeface="Arial"/>
              </a:rPr>
              <a:t>SkLearn</a:t>
            </a:r>
            <a:r>
              <a:rPr lang="fr-FR" spc="-1" dirty="0">
                <a:latin typeface="Arial"/>
              </a:rPr>
              <a:t> en Python.  </a:t>
            </a: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838080" y="64800"/>
            <a:ext cx="10514880" cy="67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fr-FR" sz="4000" b="1" strike="noStrike" spc="-1">
                <a:solidFill>
                  <a:srgbClr val="FFFFFF"/>
                </a:solidFill>
                <a:latin typeface="Calibri"/>
              </a:rPr>
              <a:t>03 – MODELES &amp; PREDICTIONS</a:t>
            </a:r>
            <a:endParaRPr lang="fr-FR" sz="4000" b="0" strike="noStrike" spc="-1">
              <a:latin typeface="Arial"/>
            </a:endParaRPr>
          </a:p>
        </p:txBody>
      </p:sp>
      <p:sp>
        <p:nvSpPr>
          <p:cNvPr id="234" name="CustomShape 2"/>
          <p:cNvSpPr/>
          <p:nvPr/>
        </p:nvSpPr>
        <p:spPr>
          <a:xfrm>
            <a:off x="838080" y="1029276"/>
            <a:ext cx="4276361" cy="34148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0" strike="noStrike" spc="-1" dirty="0">
                <a:latin typeface="Arial"/>
              </a:rPr>
              <a:t>Premiers essais et résultats :</a:t>
            </a: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800" b="0" strike="noStrike" spc="-1" dirty="0" err="1">
                <a:latin typeface="Arial"/>
              </a:rPr>
              <a:t>Binarization</a:t>
            </a:r>
            <a:r>
              <a:rPr lang="fr-FR" sz="1800" b="0" strike="noStrike" spc="-1" dirty="0">
                <a:latin typeface="Arial"/>
              </a:rPr>
              <a:t> de la popularité avec un </a:t>
            </a:r>
            <a:r>
              <a:rPr lang="fr-FR" sz="1800" b="0" strike="noStrike" spc="-1" dirty="0" err="1">
                <a:latin typeface="Arial"/>
              </a:rPr>
              <a:t>threshold</a:t>
            </a:r>
            <a:r>
              <a:rPr lang="fr-FR" sz="1800" b="0" strike="noStrike" spc="-1" dirty="0">
                <a:latin typeface="Arial"/>
              </a:rPr>
              <a:t> à 70 en </a:t>
            </a:r>
            <a:r>
              <a:rPr lang="fr-FR" sz="1800" b="0" strike="noStrike" spc="-1" dirty="0" err="1">
                <a:latin typeface="Arial"/>
              </a:rPr>
              <a:t>oversampling</a:t>
            </a:r>
            <a:r>
              <a:rPr lang="fr-FR" sz="1800" b="0" strike="noStrike" spc="-1" dirty="0">
                <a:latin typeface="Arial"/>
              </a:rPr>
              <a:t> :  </a:t>
            </a:r>
          </a:p>
          <a:p>
            <a:pPr>
              <a:lnSpc>
                <a:spcPct val="100000"/>
              </a:lnSpc>
            </a:pPr>
            <a:r>
              <a:rPr lang="fr-FR" spc="-1" dirty="0">
                <a:latin typeface="Arial"/>
              </a:rPr>
              <a:t>     73% d’</a:t>
            </a:r>
            <a:r>
              <a:rPr lang="fr-FR" spc="-1" dirty="0" err="1">
                <a:latin typeface="Arial"/>
              </a:rPr>
              <a:t>accuracy</a:t>
            </a:r>
            <a:r>
              <a:rPr lang="fr-FR" spc="-1" dirty="0">
                <a:latin typeface="Arial"/>
              </a:rPr>
              <a:t>, beaucoup de « faux 1 »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fr-FR" sz="1800" b="0" strike="noStrike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fr-F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0D375D-E7AE-4A7F-BDDE-CC95FA34F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0" y="2976799"/>
            <a:ext cx="4052318" cy="29346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EB0436-FBE3-448F-9007-A2BDEA7A5F24}"/>
              </a:ext>
            </a:extLst>
          </p:cNvPr>
          <p:cNvSpPr txBox="1"/>
          <p:nvPr/>
        </p:nvSpPr>
        <p:spPr>
          <a:xfrm>
            <a:off x="6095520" y="1536380"/>
            <a:ext cx="5257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Binarization</a:t>
            </a:r>
            <a:r>
              <a:rPr lang="fr-FR" dirty="0"/>
              <a:t> de la popularité avec un </a:t>
            </a:r>
            <a:r>
              <a:rPr lang="fr-FR" dirty="0" err="1"/>
              <a:t>threshold</a:t>
            </a:r>
            <a:r>
              <a:rPr lang="fr-FR" dirty="0"/>
              <a:t> à 70 en </a:t>
            </a:r>
            <a:r>
              <a:rPr lang="fr-FR" dirty="0" err="1"/>
              <a:t>undersampling</a:t>
            </a:r>
            <a:r>
              <a:rPr lang="fr-FR" dirty="0"/>
              <a:t>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71% d’</a:t>
            </a:r>
            <a:r>
              <a:rPr lang="fr-FR" dirty="0" err="1"/>
              <a:t>accuracy</a:t>
            </a:r>
            <a:r>
              <a:rPr lang="fr-FR" dirty="0"/>
              <a:t>, encore beaucoup de faux 1 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485C4C-942E-4404-AE86-9E3349239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520" y="2976799"/>
            <a:ext cx="4139014" cy="293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75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838080" y="64800"/>
            <a:ext cx="10514880" cy="67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fr-FR" sz="4000" b="1" strike="noStrike" spc="-1">
                <a:solidFill>
                  <a:srgbClr val="FFFFFF"/>
                </a:solidFill>
                <a:latin typeface="Calibri"/>
              </a:rPr>
              <a:t>03 – MODELES &amp; PREDICTIONS</a:t>
            </a:r>
            <a:endParaRPr lang="fr-FR" sz="4000" b="0" strike="noStrike" spc="-1">
              <a:latin typeface="Arial"/>
            </a:endParaRPr>
          </a:p>
        </p:txBody>
      </p:sp>
      <p:sp>
        <p:nvSpPr>
          <p:cNvPr id="234" name="CustomShape 2"/>
          <p:cNvSpPr/>
          <p:nvPr/>
        </p:nvSpPr>
        <p:spPr>
          <a:xfrm>
            <a:off x="838080" y="1029276"/>
            <a:ext cx="4276361" cy="36918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0" strike="noStrike" spc="-1" dirty="0">
                <a:latin typeface="Arial"/>
              </a:rPr>
              <a:t>Premiers essais et résultats :</a:t>
            </a: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800" b="0" strike="noStrike" spc="-1" dirty="0">
                <a:latin typeface="Arial"/>
              </a:rPr>
              <a:t>TOP 100 en </a:t>
            </a:r>
            <a:r>
              <a:rPr lang="fr-FR" sz="1800" b="0" strike="noStrike" spc="-1" dirty="0" err="1">
                <a:latin typeface="Arial"/>
              </a:rPr>
              <a:t>oversampling</a:t>
            </a:r>
            <a:r>
              <a:rPr lang="fr-FR" sz="1800" b="0" strike="noStrike" spc="-1" dirty="0">
                <a:latin typeface="Arial"/>
              </a:rPr>
              <a:t> :  </a:t>
            </a:r>
          </a:p>
          <a:p>
            <a:pPr>
              <a:lnSpc>
                <a:spcPct val="100000"/>
              </a:lnSpc>
            </a:pPr>
            <a:r>
              <a:rPr lang="fr-FR" spc="-1" dirty="0">
                <a:latin typeface="Arial"/>
              </a:rPr>
              <a:t>     57% d’</a:t>
            </a:r>
            <a:r>
              <a:rPr lang="fr-FR" spc="-1" dirty="0" err="1">
                <a:latin typeface="Arial"/>
              </a:rPr>
              <a:t>accuracy</a:t>
            </a:r>
            <a:r>
              <a:rPr lang="fr-FR" spc="-1" dirty="0">
                <a:latin typeface="Arial"/>
              </a:rPr>
              <a:t>, beaucoup de « faux 1 »</a:t>
            </a: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fr-FR" sz="1800" b="0" strike="noStrike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fr-F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fr-FR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B0436-FBE3-448F-9007-A2BDEA7A5F24}"/>
              </a:ext>
            </a:extLst>
          </p:cNvPr>
          <p:cNvSpPr txBox="1"/>
          <p:nvPr/>
        </p:nvSpPr>
        <p:spPr>
          <a:xfrm>
            <a:off x="6095520" y="1520437"/>
            <a:ext cx="5257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800" b="0" strike="noStrike" spc="-1" dirty="0">
                <a:latin typeface="Arial"/>
              </a:rPr>
              <a:t>TOP 100 en </a:t>
            </a:r>
            <a:r>
              <a:rPr lang="fr-FR" sz="1800" b="0" strike="noStrike" spc="-1" dirty="0" err="1">
                <a:latin typeface="Arial"/>
              </a:rPr>
              <a:t>undersampling</a:t>
            </a:r>
            <a:r>
              <a:rPr lang="fr-FR" sz="1800" b="0" strike="noStrike" spc="-1" dirty="0">
                <a:latin typeface="Arial"/>
              </a:rPr>
              <a:t> :  </a:t>
            </a:r>
          </a:p>
          <a:p>
            <a:pPr>
              <a:lnSpc>
                <a:spcPct val="100000"/>
              </a:lnSpc>
            </a:pPr>
            <a:r>
              <a:rPr lang="fr-FR" spc="-1" dirty="0">
                <a:latin typeface="Arial"/>
              </a:rPr>
              <a:t>     56% d’</a:t>
            </a:r>
            <a:r>
              <a:rPr lang="fr-FR" spc="-1" dirty="0" err="1">
                <a:latin typeface="Arial"/>
              </a:rPr>
              <a:t>accuracy</a:t>
            </a:r>
            <a:r>
              <a:rPr lang="fr-FR" spc="-1" dirty="0">
                <a:latin typeface="Arial"/>
              </a:rPr>
              <a:t>, beaucoup de « faux 1 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2AE33D-D5AA-4F00-8EAE-B7239E124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0" y="2619505"/>
            <a:ext cx="4528031" cy="31810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F2B871-41DA-462C-B628-6B4CC2580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520" y="2619504"/>
            <a:ext cx="4641563" cy="318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073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ustomShape 1"/>
          <p:cNvSpPr/>
          <p:nvPr/>
        </p:nvSpPr>
        <p:spPr>
          <a:xfrm>
            <a:off x="838080" y="64800"/>
            <a:ext cx="10514880" cy="67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fr-FR" sz="4000" b="1" strike="noStrike" spc="-1">
                <a:solidFill>
                  <a:srgbClr val="FFFFFF"/>
                </a:solidFill>
                <a:latin typeface="Calibri"/>
              </a:rPr>
              <a:t>03 – MODELES &amp; PREDICTIONS</a:t>
            </a:r>
            <a:endParaRPr lang="fr-FR" sz="4000" b="0" strike="noStrike" spc="-1">
              <a:latin typeface="Arial"/>
            </a:endParaRPr>
          </a:p>
        </p:txBody>
      </p:sp>
      <p:sp>
        <p:nvSpPr>
          <p:cNvPr id="236" name="CustomShape 2"/>
          <p:cNvSpPr/>
          <p:nvPr/>
        </p:nvSpPr>
        <p:spPr>
          <a:xfrm>
            <a:off x="2088000" y="1656000"/>
            <a:ext cx="73436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latin typeface="Arial"/>
              </a:rPr>
              <a:t>Naive Bayes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1"/>
          <p:cNvSpPr/>
          <p:nvPr/>
        </p:nvSpPr>
        <p:spPr>
          <a:xfrm>
            <a:off x="838080" y="64800"/>
            <a:ext cx="10514880" cy="67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fr-FR" sz="4000" b="1" strike="noStrike" spc="-1">
                <a:solidFill>
                  <a:srgbClr val="FFFFFF"/>
                </a:solidFill>
                <a:latin typeface="Calibri"/>
              </a:rPr>
              <a:t>04 - ETAT D’AVANCEMENT</a:t>
            </a:r>
            <a:endParaRPr lang="fr-FR" sz="4000" b="0" strike="noStrike" spc="-1">
              <a:latin typeface="Arial"/>
            </a:endParaRPr>
          </a:p>
        </p:txBody>
      </p:sp>
      <p:sp>
        <p:nvSpPr>
          <p:cNvPr id="238" name="CustomShape 2"/>
          <p:cNvSpPr/>
          <p:nvPr/>
        </p:nvSpPr>
        <p:spPr>
          <a:xfrm>
            <a:off x="838080" y="914400"/>
            <a:ext cx="10514880" cy="62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fr-FR" sz="2000" b="0" strike="noStrike" spc="-1">
                <a:solidFill>
                  <a:srgbClr val="A6A6A6"/>
                </a:solidFill>
                <a:latin typeface="Calibri"/>
              </a:rPr>
              <a:t>POINTS CLES : lorem ipsum dolor sit amet, consectetur adipiscing elit. </a:t>
            </a:r>
            <a:r>
              <a:rPr lang="fr-FR" sz="1600" b="0" i="1" strike="noStrike" spc="-1">
                <a:solidFill>
                  <a:srgbClr val="70AD47"/>
                </a:solidFill>
                <a:latin typeface="Calibri"/>
              </a:rPr>
              <a:t>(3 points clés max) - Choisir le pas de restitution : quotidien, hebdomadaire, mensuel, …</a:t>
            </a:r>
            <a:endParaRPr lang="fr-FR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fr-FR" sz="2000" b="0" strike="noStrike" spc="-1">
                <a:solidFill>
                  <a:srgbClr val="A6A6A6"/>
                </a:solidFill>
                <a:latin typeface="Calibri"/>
              </a:rPr>
              <a:t> </a:t>
            </a:r>
            <a:endParaRPr lang="fr-FR" sz="20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fr-FR" sz="2000" b="0" strike="noStrike" spc="-1">
              <a:latin typeface="Arial"/>
            </a:endParaRPr>
          </a:p>
        </p:txBody>
      </p:sp>
      <p:sp>
        <p:nvSpPr>
          <p:cNvPr id="239" name="CustomShape 3"/>
          <p:cNvSpPr/>
          <p:nvPr/>
        </p:nvSpPr>
        <p:spPr>
          <a:xfrm>
            <a:off x="785160" y="1871280"/>
            <a:ext cx="4615560" cy="4670640"/>
          </a:xfrm>
          <a:prstGeom prst="roundRect">
            <a:avLst>
              <a:gd name="adj" fmla="val 10679"/>
            </a:avLst>
          </a:prstGeom>
          <a:solidFill>
            <a:srgbClr val="B8CDC8"/>
          </a:solidFill>
          <a:ln>
            <a:solidFill>
              <a:srgbClr val="B7CCC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fr-FR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Quisque porta accumsan suscipit. Fusce accumsan magna urna, sed facilisis arcu pulvinar a. </a:t>
            </a:r>
            <a:endParaRPr lang="fr-FR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fr-FR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 Sed blandit facilisis nibh ut mattis. Proin felis magna, maximus at consectetur at, blandit ac leo. Sed suscipit sollicitudin arcu, a blandit nisl</a:t>
            </a:r>
            <a:endParaRPr lang="fr-FR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fr-FR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elementum vulputate orci. Curabitur et neque non mauris fringilla imperdiet id vitae dolor. Nulla facilisi. </a:t>
            </a:r>
            <a:endParaRPr lang="fr-FR" sz="1600" b="0" strike="noStrike" spc="-1">
              <a:latin typeface="Arial"/>
            </a:endParaRPr>
          </a:p>
        </p:txBody>
      </p:sp>
      <p:sp>
        <p:nvSpPr>
          <p:cNvPr id="240" name="CustomShape 4"/>
          <p:cNvSpPr/>
          <p:nvPr/>
        </p:nvSpPr>
        <p:spPr>
          <a:xfrm>
            <a:off x="1018800" y="1506240"/>
            <a:ext cx="2723040" cy="31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fr-FR" sz="2400" b="1" strike="noStrike" spc="-1">
                <a:solidFill>
                  <a:srgbClr val="A6A6A6"/>
                </a:solidFill>
                <a:latin typeface="Calibri"/>
                <a:ea typeface="DejaVu Sans"/>
              </a:rPr>
              <a:t>SEMAINE PASSEE</a:t>
            </a:r>
            <a:endParaRPr lang="fr-FR" sz="2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fr-FR" sz="2400" b="0" strike="noStrike" spc="-1">
              <a:latin typeface="Arial"/>
            </a:endParaRPr>
          </a:p>
        </p:txBody>
      </p:sp>
      <p:sp>
        <p:nvSpPr>
          <p:cNvPr id="241" name="CustomShape 5"/>
          <p:cNvSpPr/>
          <p:nvPr/>
        </p:nvSpPr>
        <p:spPr>
          <a:xfrm>
            <a:off x="6941160" y="1518840"/>
            <a:ext cx="2723040" cy="31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fr-FR" sz="2400" b="1" strike="noStrike" spc="-1">
                <a:solidFill>
                  <a:srgbClr val="A6A6A6"/>
                </a:solidFill>
                <a:latin typeface="Calibri"/>
                <a:ea typeface="DejaVu Sans"/>
              </a:rPr>
              <a:t>SEMAINE A VENIR</a:t>
            </a:r>
            <a:endParaRPr lang="fr-FR" sz="2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fr-FR" sz="2400" b="0" strike="noStrike" spc="-1">
              <a:latin typeface="Arial"/>
            </a:endParaRPr>
          </a:p>
        </p:txBody>
      </p:sp>
      <p:sp>
        <p:nvSpPr>
          <p:cNvPr id="242" name="CustomShape 6"/>
          <p:cNvSpPr/>
          <p:nvPr/>
        </p:nvSpPr>
        <p:spPr>
          <a:xfrm>
            <a:off x="6562080" y="1871280"/>
            <a:ext cx="4615560" cy="4670640"/>
          </a:xfrm>
          <a:prstGeom prst="roundRect">
            <a:avLst>
              <a:gd name="adj" fmla="val 10679"/>
            </a:avLst>
          </a:prstGeom>
          <a:solidFill>
            <a:srgbClr val="B8CDC8"/>
          </a:solidFill>
          <a:ln>
            <a:solidFill>
              <a:srgbClr val="B7CCC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fr-FR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Quisque porta accumsan suscipit. Fusce accumsan magna urna, sed facilisis arcu pulvinar a. </a:t>
            </a:r>
            <a:endParaRPr lang="fr-FR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fr-FR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 Sed blandit facilisis nibh ut mattis. Proin felis magna, maximus at consectetur at, blandit ac leo. Sed suscipit sollicitudin arcu, a blandit nisl</a:t>
            </a:r>
            <a:endParaRPr lang="fr-FR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6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fr-FR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elementum vulputate orci. Curabitur et neque non mauris fringilla imperdiet id vitae dolor. Nulla facilisi. </a:t>
            </a:r>
            <a:endParaRPr lang="fr-FR" sz="1600" b="0" strike="noStrike" spc="-1">
              <a:latin typeface="Arial"/>
            </a:endParaRPr>
          </a:p>
        </p:txBody>
      </p:sp>
      <p:pic>
        <p:nvPicPr>
          <p:cNvPr id="243" name="Image 8"/>
          <p:cNvPicPr/>
          <p:nvPr/>
        </p:nvPicPr>
        <p:blipFill>
          <a:blip r:embed="rId2"/>
          <a:stretch/>
        </p:blipFill>
        <p:spPr>
          <a:xfrm rot="3853200">
            <a:off x="5039280" y="1025280"/>
            <a:ext cx="1780560" cy="163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1329</Words>
  <Application>Microsoft Office PowerPoint</Application>
  <PresentationFormat>Widescreen</PresentationFormat>
  <Paragraphs>191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Marianne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du scénario 6</dc:title>
  <dc:subject/>
  <dc:creator>FLAMBARD François</dc:creator>
  <dc:description/>
  <cp:lastModifiedBy>MORDACQ Julie</cp:lastModifiedBy>
  <cp:revision>171</cp:revision>
  <dcterms:created xsi:type="dcterms:W3CDTF">2020-03-02T14:02:23Z</dcterms:created>
  <dcterms:modified xsi:type="dcterms:W3CDTF">2020-11-01T10:36:42Z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3</vt:i4>
  </property>
  <property fmtid="{D5CDD505-2E9C-101B-9397-08002B2CF9AE}" pid="8" name="PresentationFormat">
    <vt:lpwstr>Grand écran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