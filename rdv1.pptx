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media/image9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10.png" ContentType="image/png"/>
  <Override PartName="/ppt/_rels/presentation.xml.rels" ContentType="application/vnd.openxmlformats-package.relationship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Cliquez pour déplacer la diapo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fr-FR" sz="2000" spc="-1" strike="noStrike">
                <a:latin typeface="Arial"/>
              </a:rPr>
              <a:t>Cliquez pour modifier le format des notes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fr-FR" sz="1400" spc="-1" strike="noStrike">
                <a:latin typeface="Times New Roman"/>
              </a:rPr>
              <a:t> 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r>
              <a:rPr b="0" lang="fr-FR" sz="1400" spc="-1" strike="noStrike">
                <a:latin typeface="Times New Roman"/>
              </a:rPr>
              <a:t> 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r>
              <a:rPr b="0" lang="fr-FR" sz="1400" spc="-1" strike="noStrike">
                <a:latin typeface="Times New Roman"/>
              </a:rPr>
              <a:t> 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99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pPr algn="r"/>
            <a:fld id="{E05F064E-45CA-4C7B-BBB6-290FF5CB2D93}" type="slidenum">
              <a:rPr b="0" lang="fr-FR" sz="1400" spc="-1" strike="noStrike">
                <a:latin typeface="Times New Roman"/>
              </a:rPr>
              <a:t>1</a:t>
            </a:fld>
            <a:endParaRPr b="0" lang="fr-F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marL="216000" indent="-215640" algn="just">
              <a:lnSpc>
                <a:spcPct val="100000"/>
              </a:lnSpc>
            </a:pPr>
            <a:r>
              <a:rPr b="1" i="1" lang="fr-FR" sz="1200" spc="-1" strike="noStrike">
                <a:solidFill>
                  <a:srgbClr val="ff0000"/>
                </a:solidFill>
                <a:latin typeface="Arial"/>
              </a:rPr>
              <a:t>A ce titre, la MAP :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Garantit la fiabilité des informations relatives à la performance transmises au Parlement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Assure la cohérence des actions entreprises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Assure le respect des principes du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1" i="1" lang="fr-FR" sz="1200" spc="-1" strike="noStrike">
                <a:solidFill>
                  <a:srgbClr val="ff0000"/>
                </a:solidFill>
                <a:latin typeface="Arial"/>
              </a:rPr>
              <a:t>Pour remplir ses missions, la mission d'aide au pilotage :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Anime le réseau ministériel de contrôleurs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Participe aux travaux ministériels et interministériels sur le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Participe aux travaux ministériels sur l'analyse des coûts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Est informée de toute décision relative au pilotage pour le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Pilote la mise en place d'un système d'information commun de pilotage de la performance (PITAGORE)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La mission est rattachée au secrétariat général pour l'administration. Elle est dirigée par un chef de mission.</a:t>
            </a:r>
            <a:endParaRPr b="0" lang="fr-FR" sz="12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</a:pPr>
            <a:endParaRPr b="0" lang="fr-FR" sz="1200" spc="-1" strike="noStrike"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32C3AAB6-13BB-46AA-B224-8557DE11EF01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marL="216000" indent="-215640" algn="just">
              <a:lnSpc>
                <a:spcPct val="100000"/>
              </a:lnSpc>
            </a:pPr>
            <a:r>
              <a:rPr b="1" i="1" lang="fr-FR" sz="1200" spc="-1" strike="noStrike">
                <a:solidFill>
                  <a:srgbClr val="ff0000"/>
                </a:solidFill>
                <a:latin typeface="Arial"/>
              </a:rPr>
              <a:t>A ce titre, la MAP :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Garantit la fiabilité des informations relatives à la performance transmises au Parlement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Assure la cohérence des actions entreprises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Assure le respect des principes du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1" i="1" lang="fr-FR" sz="1200" spc="-1" strike="noStrike">
                <a:solidFill>
                  <a:srgbClr val="ff0000"/>
                </a:solidFill>
                <a:latin typeface="Arial"/>
              </a:rPr>
              <a:t>Pour remplir ses missions, la mission d'aide au pilotage :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Anime le réseau ministériel de contrôleurs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Participe aux travaux ministériels et interministériels sur le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Participe aux travaux ministériels sur l'analyse des coûts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Est informée de toute décision relative au pilotage pour le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Pilote la mise en place d'un système d'information commun de pilotage de la performance (PITAGORE)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La mission est rattachée au secrétariat général pour l'administration. Elle est dirigée par un chef de mission.</a:t>
            </a:r>
            <a:endParaRPr b="0" lang="fr-FR" sz="12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</a:pPr>
            <a:endParaRPr b="0" lang="fr-FR" sz="1200" spc="-1" strike="noStrike">
              <a:latin typeface="Arial"/>
            </a:endParaRPr>
          </a:p>
        </p:txBody>
      </p:sp>
      <p:sp>
        <p:nvSpPr>
          <p:cNvPr id="249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78A83621-3F10-4427-B0F7-F22B8C713ACD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marL="216000" indent="-215640" algn="just">
              <a:lnSpc>
                <a:spcPct val="100000"/>
              </a:lnSpc>
            </a:pPr>
            <a:r>
              <a:rPr b="1" i="1" lang="fr-FR" sz="1200" spc="-1" strike="noStrike">
                <a:solidFill>
                  <a:srgbClr val="ff0000"/>
                </a:solidFill>
                <a:latin typeface="Arial"/>
              </a:rPr>
              <a:t>A ce titre, la MAP :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Garantit la fiabilité des informations relatives à la performance transmises au Parlement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Assure la cohérence des actions entreprises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Assure le respect des principes du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1" i="1" lang="fr-FR" sz="1200" spc="-1" strike="noStrike">
                <a:solidFill>
                  <a:srgbClr val="ff0000"/>
                </a:solidFill>
                <a:latin typeface="Arial"/>
              </a:rPr>
              <a:t>Pour remplir ses missions, la mission d'aide au pilotage :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Anime le réseau ministériel de contrôleurs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Participe aux travaux ministériels et interministériels sur le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Participe aux travaux ministériels sur l'analyse des coûts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Est informée de toute décision relative au pilotage pour le contrôle de gestion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 </a:t>
            </a: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Pilote la mise en place d'un système d'information commun de pilotage de la performance (PITAGORE) </a:t>
            </a:r>
            <a:endParaRPr b="0" lang="fr-FR" sz="12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</a:pPr>
            <a:r>
              <a:rPr b="0" i="1" lang="fr-FR" sz="1200" spc="-1" strike="noStrike">
                <a:solidFill>
                  <a:srgbClr val="ff0000"/>
                </a:solidFill>
                <a:latin typeface="Arial"/>
              </a:rPr>
              <a:t>La mission est rattachée au secrétariat général pour l'administration. Elle est dirigée par un chef de mission.</a:t>
            </a:r>
            <a:endParaRPr b="0" lang="fr-FR" sz="12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</a:pPr>
            <a:endParaRPr b="0" lang="fr-FR" sz="1200" spc="-1" strike="noStrike">
              <a:latin typeface="Arial"/>
            </a:endParaRPr>
          </a:p>
        </p:txBody>
      </p:sp>
      <p:sp>
        <p:nvSpPr>
          <p:cNvPr id="252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EFAE34BA-7724-4BA9-B21B-3384C8DEE335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255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6D3CFA8C-9BD5-411F-A518-C85D7267F888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258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B7D5EA32-07B4-4E67-A06E-77FC06DB7A7A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261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019353B6-E246-4E08-A894-1D879E94E678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264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3210BB8D-55A5-4565-A044-EA9DB7FF32BB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267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0B4B814F-B479-4CAE-94F3-1BA3BECF9B51}" type="slidenum">
              <a:rPr b="0" lang="fr-FR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fr-FR" sz="4400" spc="-1" strike="noStrike"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1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2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3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Image 5" descr=""/>
          <p:cNvPicPr/>
          <p:nvPr/>
        </p:nvPicPr>
        <p:blipFill>
          <a:blip r:embed="rId2"/>
          <a:stretch/>
        </p:blipFill>
        <p:spPr>
          <a:xfrm>
            <a:off x="0" y="0"/>
            <a:ext cx="12191400" cy="802080"/>
          </a:xfrm>
          <a:prstGeom prst="rect">
            <a:avLst/>
          </a:prstGeom>
          <a:ln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Image 6" descr=""/>
          <p:cNvPicPr/>
          <p:nvPr/>
        </p:nvPicPr>
        <p:blipFill>
          <a:blip r:embed="rId2"/>
          <a:stretch/>
        </p:blipFill>
        <p:spPr>
          <a:xfrm>
            <a:off x="0" y="0"/>
            <a:ext cx="12191400" cy="802080"/>
          </a:xfrm>
          <a:prstGeom prst="rect">
            <a:avLst/>
          </a:prstGeom>
          <a:ln>
            <a:noFill/>
          </a:ln>
        </p:spPr>
      </p:pic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Image 7" descr=""/>
          <p:cNvPicPr/>
          <p:nvPr/>
        </p:nvPicPr>
        <p:blipFill>
          <a:blip r:embed="rId2"/>
          <a:stretch/>
        </p:blipFill>
        <p:spPr>
          <a:xfrm>
            <a:off x="0" y="0"/>
            <a:ext cx="12191400" cy="802080"/>
          </a:xfrm>
          <a:prstGeom prst="rect">
            <a:avLst/>
          </a:prstGeom>
          <a:ln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 8" descr=""/>
          <p:cNvPicPr/>
          <p:nvPr/>
        </p:nvPicPr>
        <p:blipFill>
          <a:blip r:embed="rId2"/>
          <a:stretch/>
        </p:blipFill>
        <p:spPr>
          <a:xfrm>
            <a:off x="0" y="0"/>
            <a:ext cx="12191400" cy="802080"/>
          </a:xfrm>
          <a:prstGeom prst="rect">
            <a:avLst/>
          </a:prstGeom>
          <a:ln>
            <a:noFill/>
          </a:ln>
        </p:spPr>
      </p:pic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01" name="Espace réservé du contenu 4" descr="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</p:pic>
      <p:sp>
        <p:nvSpPr>
          <p:cNvPr id="202" name="CustomShape 2"/>
          <p:cNvSpPr/>
          <p:nvPr/>
        </p:nvSpPr>
        <p:spPr>
          <a:xfrm>
            <a:off x="343080" y="2896560"/>
            <a:ext cx="3637800" cy="130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ts val="4000"/>
              </a:lnSpc>
            </a:pPr>
            <a:r>
              <a:rPr b="1" lang="fr-FR" sz="4000" spc="-100" strike="noStrike">
                <a:solidFill>
                  <a:srgbClr val="c55a11"/>
                </a:solidFill>
                <a:latin typeface="Arial Black"/>
                <a:ea typeface="DejaVu Sans"/>
              </a:rPr>
              <a:t>PROJET PTS</a:t>
            </a:r>
            <a:endParaRPr b="0" lang="fr-FR" sz="4000" spc="-1" strike="noStrike">
              <a:latin typeface="Arial"/>
            </a:endParaRPr>
          </a:p>
          <a:p>
            <a:pPr algn="just">
              <a:lnSpc>
                <a:spcPts val="1400"/>
              </a:lnSpc>
            </a:pPr>
            <a:endParaRPr b="0" lang="fr-FR" sz="4000" spc="-1" strike="noStrike">
              <a:latin typeface="Arial"/>
            </a:endParaRPr>
          </a:p>
          <a:p>
            <a:pPr algn="just">
              <a:lnSpc>
                <a:spcPts val="1400"/>
              </a:lnSpc>
            </a:pPr>
            <a:r>
              <a:rPr b="0" lang="fr-FR" sz="1800" spc="-1" strike="noStrike">
                <a:solidFill>
                  <a:srgbClr val="c55a11"/>
                </a:solidFill>
                <a:latin typeface="Calibri"/>
                <a:ea typeface="DejaVu Sans"/>
              </a:rPr>
              <a:t>PRÉDICTION DU SUCCES D’UNE</a:t>
            </a:r>
            <a:endParaRPr b="0" lang="fr-FR" sz="1800" spc="-1" strike="noStrike">
              <a:latin typeface="Arial"/>
            </a:endParaRPr>
          </a:p>
          <a:p>
            <a:pPr algn="just">
              <a:lnSpc>
                <a:spcPts val="1400"/>
              </a:lnSpc>
            </a:pPr>
            <a:endParaRPr b="0" lang="fr-FR" sz="1800" spc="-1" strike="noStrike">
              <a:latin typeface="Arial"/>
            </a:endParaRPr>
          </a:p>
          <a:p>
            <a:pPr algn="just">
              <a:lnSpc>
                <a:spcPts val="1400"/>
              </a:lnSpc>
            </a:pPr>
            <a:r>
              <a:rPr b="0" lang="fr-FR" sz="1800" spc="-1" strike="noStrike">
                <a:solidFill>
                  <a:srgbClr val="c55a11"/>
                </a:solidFill>
                <a:latin typeface="Calibri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c55a11"/>
                </a:solidFill>
                <a:latin typeface="Calibri"/>
                <a:ea typeface="DejaVu Sans"/>
              </a:rPr>
              <a:t>MUSIQUE SUR SPOTIFY 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fr-FR" sz="3200" spc="-1" strike="noStrike">
              <a:latin typeface="Arial"/>
            </a:endParaRPr>
          </a:p>
        </p:txBody>
      </p:sp>
      <p:sp>
        <p:nvSpPr>
          <p:cNvPr id="203" name="CustomShape 3"/>
          <p:cNvSpPr/>
          <p:nvPr/>
        </p:nvSpPr>
        <p:spPr>
          <a:xfrm>
            <a:off x="7858080" y="600120"/>
            <a:ext cx="4453920" cy="121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REFLEXION AUTOUR DE LA  DONNEE</a:t>
            </a:r>
            <a:endParaRPr b="0" lang="fr-FR" sz="22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Choix et construction de notre dataset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Description des variables (dictionnaire de valeurs)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Definition du succes d’une musique 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Regression VS Classification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04" name="CustomShape 4"/>
          <p:cNvSpPr/>
          <p:nvPr/>
        </p:nvSpPr>
        <p:spPr>
          <a:xfrm>
            <a:off x="7058160" y="1924200"/>
            <a:ext cx="3276000" cy="820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PREMIERES APPROCHES</a:t>
            </a:r>
            <a:r>
              <a:rPr b="1" lang="fr-FR" sz="2000" spc="-1" strike="noStrike">
                <a:solidFill>
                  <a:srgbClr val="ffffff"/>
                </a:solidFill>
                <a:latin typeface="Calibri"/>
                <a:ea typeface="DejaVu Sans"/>
              </a:rPr>
              <a:t>  </a:t>
            </a:r>
            <a:endParaRPr b="0" lang="fr-FR" sz="20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Recherches bibliographiques et état de l’art 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Data Visualisation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05" name="CustomShape 5"/>
          <p:cNvSpPr/>
          <p:nvPr/>
        </p:nvSpPr>
        <p:spPr>
          <a:xfrm>
            <a:off x="6315120" y="3275640"/>
            <a:ext cx="3276000" cy="1491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MODELES &amp; PREDICTIONS </a:t>
            </a:r>
            <a:endParaRPr b="0" lang="fr-FR" sz="22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Problemes transverses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Bayes / KNN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Decision Tree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Neural Network</a:t>
            </a:r>
            <a:endParaRPr b="0" lang="fr-FR" sz="13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fr-FR" sz="1300" spc="-1" strike="noStrike">
              <a:latin typeface="Arial"/>
            </a:endParaRPr>
          </a:p>
        </p:txBody>
      </p:sp>
      <p:sp>
        <p:nvSpPr>
          <p:cNvPr id="206" name="CustomShape 6"/>
          <p:cNvSpPr/>
          <p:nvPr/>
        </p:nvSpPr>
        <p:spPr>
          <a:xfrm>
            <a:off x="5579640" y="4824000"/>
            <a:ext cx="3276000" cy="927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NOTRE PRODUIT FINAL </a:t>
            </a:r>
            <a:endParaRPr b="0" lang="fr-FR" sz="22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ET CONCLUSION</a:t>
            </a:r>
            <a:endParaRPr b="0" lang="fr-FR" sz="22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fr-FR" sz="1100" spc="-1" strike="noStrike">
                <a:solidFill>
                  <a:srgbClr val="ffffff"/>
                </a:solidFill>
                <a:latin typeface="Calibri"/>
                <a:ea typeface="DejaVu Sans"/>
              </a:rPr>
              <a:t>, 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7" name="CustomShape 7"/>
          <p:cNvSpPr/>
          <p:nvPr/>
        </p:nvSpPr>
        <p:spPr>
          <a:xfrm>
            <a:off x="343080" y="1795680"/>
            <a:ext cx="2752560" cy="68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1300" spc="-1" strike="noStrike">
                <a:solidFill>
                  <a:srgbClr val="000000"/>
                </a:solidFill>
                <a:latin typeface="Marianne"/>
                <a:ea typeface="DejaVu Sans"/>
              </a:rPr>
              <a:t>DIA : DATA &amp; INTELLIGENCE ARTIFIIELLE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300" spc="-1" strike="noStrike">
              <a:latin typeface="Arial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2"/>
          <a:stretch/>
        </p:blipFill>
        <p:spPr>
          <a:xfrm>
            <a:off x="428760" y="72000"/>
            <a:ext cx="1586880" cy="15868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01 – REFLEXIONS AUTOUR DE LA DONNEE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1872000" y="1872000"/>
            <a:ext cx="5759640" cy="2558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Kaggle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Top 100 Hit Songs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Spotify API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Autres ?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SACEM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2232000" y="1368000"/>
            <a:ext cx="57596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Quel dataset choisir ?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</p:txBody>
      </p:sp>
      <p:pic>
        <p:nvPicPr>
          <p:cNvPr id="212" name="" descr=""/>
          <p:cNvPicPr/>
          <p:nvPr/>
        </p:nvPicPr>
        <p:blipFill>
          <a:blip r:embed="rId1"/>
          <a:stretch/>
        </p:blipFill>
        <p:spPr>
          <a:xfrm>
            <a:off x="5688000" y="1368000"/>
            <a:ext cx="2376000" cy="2376000"/>
          </a:xfrm>
          <a:prstGeom prst="rect">
            <a:avLst/>
          </a:prstGeom>
          <a:ln>
            <a:noFill/>
          </a:ln>
        </p:spPr>
      </p:pic>
      <p:pic>
        <p:nvPicPr>
          <p:cNvPr id="213" name="" descr=""/>
          <p:cNvPicPr/>
          <p:nvPr/>
        </p:nvPicPr>
        <p:blipFill>
          <a:blip r:embed="rId2"/>
          <a:srcRect l="5532" t="25961" r="2967" b="26276"/>
          <a:stretch/>
        </p:blipFill>
        <p:spPr>
          <a:xfrm>
            <a:off x="5256000" y="4464000"/>
            <a:ext cx="5255640" cy="1439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01 – REFLEXIONS AUTOUR DE LA DONNEE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15" name="TextShape 2"/>
          <p:cNvSpPr txBox="1"/>
          <p:nvPr/>
        </p:nvSpPr>
        <p:spPr>
          <a:xfrm>
            <a:off x="1872000" y="2160000"/>
            <a:ext cx="59040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spAutoFit/>
          </a:bodyPr>
          <a:p>
            <a:r>
              <a:rPr b="0" lang="fr-FR" sz="1800" spc="-1" strike="noStrike">
                <a:latin typeface="Arial"/>
              </a:rPr>
              <a:t>Lister les variables que l’on utilise et leur description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01 – REFLEXIONS AUTOUR DE LA DONNEE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17" name="CustomShape 2"/>
          <p:cNvSpPr/>
          <p:nvPr/>
        </p:nvSpPr>
        <p:spPr>
          <a:xfrm>
            <a:off x="2160000" y="1836000"/>
            <a:ext cx="38876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Prédiction de la note Spotify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de Popularité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6912000" y="1733760"/>
            <a:ext cx="3887640" cy="912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Prédiction de la note de Popularité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Top 100 Hit Songs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219" name="CustomShape 4"/>
          <p:cNvSpPr/>
          <p:nvPr/>
        </p:nvSpPr>
        <p:spPr>
          <a:xfrm>
            <a:off x="216000" y="3914280"/>
            <a:ext cx="1727640" cy="575640"/>
          </a:xfrm>
          <a:prstGeom prst="rect">
            <a:avLst/>
          </a:prstGeom>
          <a:solidFill>
            <a:srgbClr val="f03925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" descr=""/>
          <p:cNvPicPr/>
          <p:nvPr/>
        </p:nvPicPr>
        <p:blipFill>
          <a:blip r:embed="rId1"/>
          <a:stretch/>
        </p:blipFill>
        <p:spPr>
          <a:xfrm>
            <a:off x="1944000" y="2592000"/>
            <a:ext cx="8855640" cy="4195440"/>
          </a:xfrm>
          <a:prstGeom prst="rect">
            <a:avLst/>
          </a:prstGeom>
          <a:ln>
            <a:noFill/>
          </a:ln>
        </p:spPr>
      </p:pic>
      <p:sp>
        <p:nvSpPr>
          <p:cNvPr id="221" name="CustomShape 5"/>
          <p:cNvSpPr/>
          <p:nvPr/>
        </p:nvSpPr>
        <p:spPr>
          <a:xfrm>
            <a:off x="216000" y="1872000"/>
            <a:ext cx="1727640" cy="575640"/>
          </a:xfrm>
          <a:prstGeom prst="rect">
            <a:avLst/>
          </a:prstGeom>
          <a:solidFill>
            <a:srgbClr val="f03925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CustomShape 6"/>
          <p:cNvSpPr/>
          <p:nvPr/>
        </p:nvSpPr>
        <p:spPr>
          <a:xfrm>
            <a:off x="360000" y="1966320"/>
            <a:ext cx="15836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2000" spc="-1" strike="noStrike">
                <a:solidFill>
                  <a:srgbClr val="ffffff"/>
                </a:solidFill>
                <a:latin typeface="Arial"/>
              </a:rPr>
              <a:t>Variables :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223" name="CustomShape 7"/>
          <p:cNvSpPr/>
          <p:nvPr/>
        </p:nvSpPr>
        <p:spPr>
          <a:xfrm>
            <a:off x="288000" y="3888000"/>
            <a:ext cx="15836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ffffff"/>
                </a:solidFill>
                <a:latin typeface="Arial"/>
              </a:rPr>
              <a:t>Type de problème :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224" name="CustomShape 8"/>
          <p:cNvSpPr/>
          <p:nvPr/>
        </p:nvSpPr>
        <p:spPr>
          <a:xfrm>
            <a:off x="2808000" y="1080000"/>
            <a:ext cx="62636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02 – PREMIERES APPROCHES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26" name="CustomShape 2"/>
          <p:cNvSpPr/>
          <p:nvPr/>
        </p:nvSpPr>
        <p:spPr>
          <a:xfrm rot="16200000">
            <a:off x="-598320" y="2445480"/>
            <a:ext cx="2528280" cy="585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CustomShape 3"/>
          <p:cNvSpPr/>
          <p:nvPr/>
        </p:nvSpPr>
        <p:spPr>
          <a:xfrm>
            <a:off x="1800000" y="1728000"/>
            <a:ext cx="7271640" cy="1461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Soit un lien vers le notebook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Ou</a:t>
            </a: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Soit les vizs principales sous forme d’image directement sur le PPT 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03 – MODELES &amp; PREDICTIONS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2088000" y="1656000"/>
            <a:ext cx="73436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Problemes transverses :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230" name="TextShape 3"/>
          <p:cNvSpPr txBox="1"/>
          <p:nvPr/>
        </p:nvSpPr>
        <p:spPr>
          <a:xfrm>
            <a:off x="3456000" y="3029400"/>
            <a:ext cx="2651040" cy="85860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spAutoFit/>
          </a:bodyPr>
          <a:p>
            <a:r>
              <a:rPr b="0" lang="fr-FR" sz="1800" spc="-1" strike="noStrike">
                <a:latin typeface="Arial"/>
              </a:rPr>
              <a:t>oversampling</a:t>
            </a:r>
            <a:endParaRPr b="0" lang="fr-FR" sz="1800" spc="-1" strike="noStrike">
              <a:latin typeface="Arial"/>
            </a:endParaRPr>
          </a:p>
          <a:p>
            <a:r>
              <a:rPr b="0" lang="fr-FR" sz="1800" spc="-1" strike="noStrike">
                <a:latin typeface="Arial"/>
              </a:rPr>
              <a:t>onehotencoding artists</a:t>
            </a:r>
            <a:endParaRPr b="0" lang="fr-FR" sz="1800" spc="-1" strike="noStrike">
              <a:latin typeface="Arial"/>
            </a:endParaRPr>
          </a:p>
          <a:p>
            <a:r>
              <a:rPr b="0" lang="fr-FR" sz="1800" spc="-1" strike="noStrike">
                <a:latin typeface="Arial"/>
              </a:rPr>
              <a:t>inverse de oversampling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03 – MODELES &amp; PREDICTIONS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32" name="CustomShape 2"/>
          <p:cNvSpPr/>
          <p:nvPr/>
        </p:nvSpPr>
        <p:spPr>
          <a:xfrm>
            <a:off x="2088000" y="1656000"/>
            <a:ext cx="73436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Naive Bayes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03 – MODELES &amp; PREDICTIONS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34" name="CustomShape 2"/>
          <p:cNvSpPr/>
          <p:nvPr/>
        </p:nvSpPr>
        <p:spPr>
          <a:xfrm>
            <a:off x="2088000" y="1656000"/>
            <a:ext cx="73436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Naive Bayes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03 – MODELES &amp; PREDICTIONS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36" name="CustomShape 2"/>
          <p:cNvSpPr/>
          <p:nvPr/>
        </p:nvSpPr>
        <p:spPr>
          <a:xfrm>
            <a:off x="2088000" y="1656000"/>
            <a:ext cx="73436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latin typeface="Arial"/>
              </a:rPr>
              <a:t>Naive Bayes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CustomShape 1"/>
          <p:cNvSpPr/>
          <p:nvPr/>
        </p:nvSpPr>
        <p:spPr>
          <a:xfrm>
            <a:off x="838080" y="64800"/>
            <a:ext cx="10514880" cy="67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fr-FR" sz="4000" spc="-1" strike="noStrike">
                <a:solidFill>
                  <a:srgbClr val="ffffff"/>
                </a:solidFill>
                <a:latin typeface="Calibri"/>
              </a:rPr>
              <a:t>04 - ETAT D’AVANCEMENT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38" name="CustomShape 2"/>
          <p:cNvSpPr/>
          <p:nvPr/>
        </p:nvSpPr>
        <p:spPr>
          <a:xfrm>
            <a:off x="838080" y="914400"/>
            <a:ext cx="10514880" cy="623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0" lang="fr-FR" sz="2000" spc="-1" strike="noStrike">
                <a:solidFill>
                  <a:srgbClr val="a6a6a6"/>
                </a:solidFill>
                <a:latin typeface="Calibri"/>
              </a:rPr>
              <a:t>POINTS CLES : lorem ipsum dolor sit amet, consectetur adipiscing elit. </a:t>
            </a:r>
            <a:r>
              <a:rPr b="0" i="1" lang="fr-FR" sz="1600" spc="-1" strike="noStrike">
                <a:solidFill>
                  <a:srgbClr val="70ad47"/>
                </a:solidFill>
                <a:latin typeface="Calibri"/>
              </a:rPr>
              <a:t>(3 points clés max) - Choisir le pas de restitution : quotidien, hebdomadaire, mensuel, …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0" lang="fr-FR" sz="2000" spc="-1" strike="noStrike">
                <a:solidFill>
                  <a:srgbClr val="a6a6a6"/>
                </a:solidFill>
                <a:latin typeface="Calibri"/>
              </a:rPr>
              <a:t> </a:t>
            </a:r>
            <a:endParaRPr b="0" lang="fr-FR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fr-FR" sz="2000" spc="-1" strike="noStrike">
              <a:latin typeface="Arial"/>
            </a:endParaRPr>
          </a:p>
        </p:txBody>
      </p:sp>
      <p:sp>
        <p:nvSpPr>
          <p:cNvPr id="239" name="CustomShape 3"/>
          <p:cNvSpPr/>
          <p:nvPr/>
        </p:nvSpPr>
        <p:spPr>
          <a:xfrm>
            <a:off x="785160" y="1871280"/>
            <a:ext cx="4615560" cy="4670640"/>
          </a:xfrm>
          <a:prstGeom prst="roundRect">
            <a:avLst>
              <a:gd name="adj" fmla="val 10679"/>
            </a:avLst>
          </a:prstGeom>
          <a:solidFill>
            <a:srgbClr val="b8cdc8"/>
          </a:solidFill>
          <a:ln>
            <a:solidFill>
              <a:srgbClr val="b7ccc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>
            <a:noAutofit/>
          </a:bodyPr>
          <a:p>
            <a:pPr marL="343080" indent="-34236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Quisque porta accumsan suscipit. Fusce accumsan magna urna, sed facilisis arcu pulvinar a. 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600" spc="-1" strike="noStrike">
              <a:latin typeface="Arial"/>
            </a:endParaRPr>
          </a:p>
          <a:p>
            <a:pPr marL="343080" indent="-34236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Sed blandit facilisis nibh ut mattis. Proin felis magna, maximus at consectetur at, blandit ac leo. Sed suscipit sollicitudin arcu, a blandit nisl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600" spc="-1" strike="noStrike">
              <a:latin typeface="Arial"/>
            </a:endParaRPr>
          </a:p>
          <a:p>
            <a:pPr marL="343080" indent="-34236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elementum vulputate orci. Curabitur et neque non mauris fringilla imperdiet id vitae dolor. Nulla facilisi. 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40" name="CustomShape 4"/>
          <p:cNvSpPr/>
          <p:nvPr/>
        </p:nvSpPr>
        <p:spPr>
          <a:xfrm>
            <a:off x="1018800" y="1506240"/>
            <a:ext cx="2723040" cy="31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1" lang="fr-FR" sz="2400" spc="-1" strike="noStrike">
                <a:solidFill>
                  <a:srgbClr val="a6a6a6"/>
                </a:solidFill>
                <a:latin typeface="Calibri"/>
                <a:ea typeface="DejaVu Sans"/>
              </a:rPr>
              <a:t>SEMAINE PASSEE</a:t>
            </a:r>
            <a:endParaRPr b="0" lang="fr-FR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fr-FR" sz="2400" spc="-1" strike="noStrike">
              <a:latin typeface="Arial"/>
            </a:endParaRPr>
          </a:p>
        </p:txBody>
      </p:sp>
      <p:sp>
        <p:nvSpPr>
          <p:cNvPr id="241" name="CustomShape 5"/>
          <p:cNvSpPr/>
          <p:nvPr/>
        </p:nvSpPr>
        <p:spPr>
          <a:xfrm>
            <a:off x="6941160" y="1518840"/>
            <a:ext cx="2723040" cy="31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1" lang="fr-FR" sz="2400" spc="-1" strike="noStrike">
                <a:solidFill>
                  <a:srgbClr val="a6a6a6"/>
                </a:solidFill>
                <a:latin typeface="Calibri"/>
                <a:ea typeface="DejaVu Sans"/>
              </a:rPr>
              <a:t>SEMAINE A VENIR</a:t>
            </a:r>
            <a:endParaRPr b="0" lang="fr-FR" sz="24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fr-FR" sz="2400" spc="-1" strike="noStrike">
              <a:latin typeface="Arial"/>
            </a:endParaRPr>
          </a:p>
        </p:txBody>
      </p:sp>
      <p:sp>
        <p:nvSpPr>
          <p:cNvPr id="242" name="CustomShape 6"/>
          <p:cNvSpPr/>
          <p:nvPr/>
        </p:nvSpPr>
        <p:spPr>
          <a:xfrm>
            <a:off x="6562080" y="1871280"/>
            <a:ext cx="4615560" cy="4670640"/>
          </a:xfrm>
          <a:prstGeom prst="roundRect">
            <a:avLst>
              <a:gd name="adj" fmla="val 10679"/>
            </a:avLst>
          </a:prstGeom>
          <a:solidFill>
            <a:srgbClr val="b8cdc8"/>
          </a:solidFill>
          <a:ln>
            <a:solidFill>
              <a:srgbClr val="b7ccc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>
            <a:noAutofit/>
          </a:bodyPr>
          <a:p>
            <a:pPr marL="343080" indent="-34236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Quisque porta accumsan suscipit. Fusce accumsan magna urna, sed facilisis arcu pulvinar a. 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600" spc="-1" strike="noStrike">
              <a:latin typeface="Arial"/>
            </a:endParaRPr>
          </a:p>
          <a:p>
            <a:pPr marL="343080" indent="-34236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Sed blandit facilisis nibh ut mattis. Proin felis magna, maximus at consectetur at, blandit ac leo. Sed suscipit sollicitudin arcu, a blandit nisl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600" spc="-1" strike="noStrike">
              <a:latin typeface="Arial"/>
            </a:endParaRPr>
          </a:p>
          <a:p>
            <a:pPr marL="343080" indent="-34236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b="0" lang="fr-FR" sz="1600" spc="-1" strike="noStrike">
                <a:solidFill>
                  <a:srgbClr val="ffffff"/>
                </a:solidFill>
                <a:latin typeface="Calibri"/>
                <a:ea typeface="DejaVu Sans"/>
              </a:rPr>
              <a:t>elementum vulputate orci. Curabitur et neque non mauris fringilla imperdiet id vitae dolor. Nulla facilisi. 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43" name="Image 8" descr=""/>
          <p:cNvPicPr/>
          <p:nvPr/>
        </p:nvPicPr>
        <p:blipFill>
          <a:blip r:embed="rId1"/>
          <a:stretch/>
        </p:blipFill>
        <p:spPr>
          <a:xfrm rot="3853200">
            <a:off x="5039280" y="1025280"/>
            <a:ext cx="1780560" cy="16372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4067</TotalTime>
  <Application>LibreOffice/6.2.4.2$Windows_X86_64 LibreOffice_project/2412653d852ce75f65fbfa83fb7e7b669a126d64</Application>
  <Words>1024</Words>
  <Paragraphs>122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2020-03-02T14:02:23Z</dcterms:created>
  <dc:creator>FLAMBARD François</dc:creator>
  <dc:description/>
  <dc:language>fr-FR</dc:language>
  <cp:lastModifiedBy/>
  <dcterms:modified xsi:type="dcterms:W3CDTF">2020-10-31T14:57:15Z</dcterms:modified>
  <cp:revision>164</cp:revision>
  <dc:subject/>
  <dc:title>Analyse du scénario 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3</vt:i4>
  </property>
  <property fmtid="{D5CDD505-2E9C-101B-9397-08002B2CF9AE}" pid="8" name="PresentationFormat">
    <vt:lpwstr>Grand écran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5</vt:i4>
  </property>
</Properties>
</file>